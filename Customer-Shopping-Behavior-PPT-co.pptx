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4630400" cy="8229600"/>
  <p:notesSz cx="14630400" cy="8229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39192" y="7749540"/>
            <a:ext cx="1722602" cy="41147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267487" y="2187168"/>
            <a:ext cx="6055359" cy="27978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0" i="0">
                <a:solidFill>
                  <a:srgbClr val="5B6D8B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5B6D8B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rgbClr val="5B6D8B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5B6D8B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rgbClr val="5B6D8B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rgbClr val="5B6D8B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39192" y="7749540"/>
            <a:ext cx="1722602" cy="4114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1089" y="1126206"/>
            <a:ext cx="5990590" cy="1408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0" i="0">
                <a:solidFill>
                  <a:srgbClr val="5B6D8B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41969" y="2511158"/>
            <a:ext cx="6062980" cy="3896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5B6D8B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67487" y="2875000"/>
            <a:ext cx="7406005" cy="140843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5550"/>
              </a:lnSpc>
              <a:tabLst>
                <a:tab pos="2617470" algn="l"/>
                <a:tab pos="5162550" algn="l"/>
              </a:tabLst>
            </a:pPr>
            <a:r>
              <a:rPr dirty="0" spc="-10"/>
              <a:t>Customer</a:t>
            </a:r>
            <a:r>
              <a:rPr dirty="0"/>
              <a:t>	</a:t>
            </a:r>
            <a:r>
              <a:rPr dirty="0" spc="-10"/>
              <a:t>Shopping</a:t>
            </a:r>
            <a:r>
              <a:rPr dirty="0"/>
              <a:t>	</a:t>
            </a:r>
            <a:r>
              <a:rPr dirty="0" spc="-10"/>
              <a:t>Behavior Analysis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6267487" y="4613300"/>
            <a:ext cx="6867525" cy="749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5700"/>
              </a:lnSpc>
              <a:spcBef>
                <a:spcPts val="100"/>
              </a:spcBef>
            </a:pPr>
            <a:r>
              <a:rPr dirty="0" sz="1750" spc="-10">
                <a:solidFill>
                  <a:srgbClr val="5B6D8B"/>
                </a:solidFill>
                <a:latin typeface="Arial"/>
                <a:cs typeface="Arial"/>
              </a:rPr>
              <a:t>Uncovering</a:t>
            </a:r>
            <a:r>
              <a:rPr dirty="0" sz="1750" spc="-6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insights</a:t>
            </a:r>
            <a:r>
              <a:rPr dirty="0" sz="1750" spc="-5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from</a:t>
            </a:r>
            <a:r>
              <a:rPr dirty="0" sz="1750" spc="-5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3,900</a:t>
            </a:r>
            <a:r>
              <a:rPr dirty="0" sz="1750" spc="-5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purchases</a:t>
            </a:r>
            <a:r>
              <a:rPr dirty="0" sz="1750" spc="-5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to</a:t>
            </a:r>
            <a:r>
              <a:rPr dirty="0" sz="1750" spc="-6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guide</a:t>
            </a:r>
            <a:r>
              <a:rPr dirty="0" sz="1750" spc="-5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strategic</a:t>
            </a:r>
            <a:r>
              <a:rPr dirty="0" sz="1750" spc="-5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B6D8B"/>
                </a:solidFill>
                <a:latin typeface="Arial"/>
                <a:cs typeface="Arial"/>
              </a:rPr>
              <a:t>business decisions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67487" y="2048700"/>
            <a:ext cx="4482465" cy="7035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14550" algn="l"/>
              </a:tabLst>
            </a:pPr>
            <a:r>
              <a:rPr dirty="0" spc="-10"/>
              <a:t>Dataset</a:t>
            </a:r>
            <a:r>
              <a:rPr dirty="0"/>
              <a:t>	</a:t>
            </a:r>
            <a:r>
              <a:rPr dirty="0" spc="-10"/>
              <a:t>Overview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6283397" y="3059353"/>
            <a:ext cx="2324100" cy="1537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5850" spc="-10">
                <a:solidFill>
                  <a:srgbClr val="5B6D8B"/>
                </a:solidFill>
                <a:latin typeface="Arial"/>
                <a:cs typeface="Arial"/>
              </a:rPr>
              <a:t>3,900</a:t>
            </a:r>
            <a:endParaRPr sz="58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245"/>
              </a:spcBef>
            </a:pPr>
            <a:r>
              <a:rPr dirty="0" sz="2200">
                <a:solidFill>
                  <a:srgbClr val="5B6D8B"/>
                </a:solidFill>
                <a:latin typeface="Arial"/>
                <a:cs typeface="Arial"/>
              </a:rPr>
              <a:t>Purchase</a:t>
            </a:r>
            <a:r>
              <a:rPr dirty="0" sz="2200" spc="-11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5B6D8B"/>
                </a:solidFill>
                <a:latin typeface="Arial"/>
                <a:cs typeface="Arial"/>
              </a:rPr>
              <a:t>Records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518357" y="5068112"/>
            <a:ext cx="1852295" cy="749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81965" marR="5080" indent="-469900">
              <a:lnSpc>
                <a:spcPct val="135700"/>
              </a:lnSpc>
              <a:spcBef>
                <a:spcPts val="100"/>
              </a:spcBef>
            </a:pPr>
            <a:r>
              <a:rPr dirty="0" sz="1750" spc="-10">
                <a:solidFill>
                  <a:srgbClr val="5B6D8B"/>
                </a:solidFill>
                <a:latin typeface="Arial"/>
                <a:cs typeface="Arial"/>
              </a:rPr>
              <a:t>Transactional</a:t>
            </a:r>
            <a:r>
              <a:rPr dirty="0" sz="1750" spc="-3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 spc="-20">
                <a:solidFill>
                  <a:srgbClr val="5B6D8B"/>
                </a:solidFill>
                <a:latin typeface="Arial"/>
                <a:cs typeface="Arial"/>
              </a:rPr>
              <a:t>data </a:t>
            </a:r>
            <a:r>
              <a:rPr dirty="0" sz="1750" spc="-10">
                <a:solidFill>
                  <a:srgbClr val="5B6D8B"/>
                </a:solidFill>
                <a:latin typeface="Arial"/>
                <a:cs typeface="Arial"/>
              </a:rPr>
              <a:t>analyzed</a:t>
            </a:r>
            <a:endParaRPr sz="175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205780" y="3059353"/>
            <a:ext cx="1704339" cy="31280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00"/>
              </a:spcBef>
            </a:pPr>
            <a:r>
              <a:rPr dirty="0" sz="5850" spc="-25">
                <a:solidFill>
                  <a:srgbClr val="5B6D8B"/>
                </a:solidFill>
                <a:latin typeface="Arial"/>
                <a:cs typeface="Arial"/>
              </a:rPr>
              <a:t>18</a:t>
            </a:r>
            <a:endParaRPr sz="5850">
              <a:latin typeface="Arial"/>
              <a:cs typeface="Arial"/>
            </a:endParaRPr>
          </a:p>
          <a:p>
            <a:pPr algn="ctr" marL="635">
              <a:lnSpc>
                <a:spcPct val="100000"/>
              </a:lnSpc>
              <a:spcBef>
                <a:spcPts val="2245"/>
              </a:spcBef>
            </a:pPr>
            <a:r>
              <a:rPr dirty="0" sz="2200">
                <a:solidFill>
                  <a:srgbClr val="5B6D8B"/>
                </a:solidFill>
                <a:latin typeface="Arial"/>
                <a:cs typeface="Arial"/>
              </a:rPr>
              <a:t>Data</a:t>
            </a:r>
            <a:r>
              <a:rPr dirty="0" sz="2200" spc="-6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5B6D8B"/>
                </a:solidFill>
                <a:latin typeface="Arial"/>
                <a:cs typeface="Arial"/>
              </a:rPr>
              <a:t>Fields</a:t>
            </a:r>
            <a:endParaRPr sz="2200">
              <a:latin typeface="Arial"/>
              <a:cs typeface="Arial"/>
            </a:endParaRPr>
          </a:p>
          <a:p>
            <a:pPr algn="ctr" marL="12065" marR="5080" indent="635">
              <a:lnSpc>
                <a:spcPct val="135700"/>
              </a:lnSpc>
              <a:spcBef>
                <a:spcPts val="1120"/>
              </a:spcBef>
            </a:pPr>
            <a:r>
              <a:rPr dirty="0" sz="1750" spc="-10">
                <a:solidFill>
                  <a:srgbClr val="5B6D8B"/>
                </a:solidFill>
                <a:latin typeface="Arial"/>
                <a:cs typeface="Arial"/>
              </a:rPr>
              <a:t>Customer demographics,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purchase</a:t>
            </a:r>
            <a:r>
              <a:rPr dirty="0" sz="1750" spc="-11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B6D8B"/>
                </a:solidFill>
                <a:latin typeface="Arial"/>
                <a:cs typeface="Arial"/>
              </a:rPr>
              <a:t>details,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behavior</a:t>
            </a:r>
            <a:r>
              <a:rPr dirty="0" sz="1750" spc="-7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B6D8B"/>
                </a:solidFill>
                <a:latin typeface="Arial"/>
                <a:cs typeface="Arial"/>
              </a:rPr>
              <a:t>metrics</a:t>
            </a:r>
            <a:endParaRPr sz="175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504215" y="3059353"/>
            <a:ext cx="2334260" cy="2042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0"/>
              </a:spcBef>
            </a:pPr>
            <a:r>
              <a:rPr dirty="0" sz="5850" spc="-25">
                <a:solidFill>
                  <a:srgbClr val="5B6D8B"/>
                </a:solidFill>
                <a:latin typeface="Arial"/>
                <a:cs typeface="Arial"/>
              </a:rPr>
              <a:t>37</a:t>
            </a:r>
            <a:endParaRPr sz="5850">
              <a:latin typeface="Arial"/>
              <a:cs typeface="Arial"/>
            </a:endParaRPr>
          </a:p>
          <a:p>
            <a:pPr algn="ctr" marL="635">
              <a:lnSpc>
                <a:spcPct val="100000"/>
              </a:lnSpc>
              <a:spcBef>
                <a:spcPts val="2245"/>
              </a:spcBef>
            </a:pPr>
            <a:r>
              <a:rPr dirty="0" sz="2200">
                <a:solidFill>
                  <a:srgbClr val="5B6D8B"/>
                </a:solidFill>
                <a:latin typeface="Arial"/>
                <a:cs typeface="Arial"/>
              </a:rPr>
              <a:t>Missing</a:t>
            </a:r>
            <a:r>
              <a:rPr dirty="0" sz="2200" spc="-10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5B6D8B"/>
                </a:solidFill>
                <a:latin typeface="Arial"/>
                <a:cs typeface="Arial"/>
              </a:rPr>
              <a:t>Values</a:t>
            </a:r>
            <a:endParaRPr sz="2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870"/>
              </a:spcBef>
            </a:pP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Review</a:t>
            </a:r>
            <a:r>
              <a:rPr dirty="0" sz="1750" spc="-4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ratings</a:t>
            </a:r>
            <a:r>
              <a:rPr dirty="0" sz="1750" spc="-4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B6D8B"/>
                </a:solidFill>
                <a:latin typeface="Arial"/>
                <a:cs typeface="Arial"/>
              </a:rPr>
              <a:t>imputed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089" y="1980717"/>
            <a:ext cx="6210300" cy="7035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27860" algn="l"/>
                <a:tab pos="3277870" algn="l"/>
              </a:tabLst>
            </a:pPr>
            <a:r>
              <a:rPr dirty="0" spc="-10"/>
              <a:t>Python</a:t>
            </a:r>
            <a:r>
              <a:rPr dirty="0"/>
              <a:t>	</a:t>
            </a:r>
            <a:r>
              <a:rPr dirty="0" spc="-20"/>
              <a:t>Data</a:t>
            </a:r>
            <a:r>
              <a:rPr dirty="0"/>
              <a:t>	</a:t>
            </a:r>
            <a:r>
              <a:rPr dirty="0" spc="-10"/>
              <a:t>Preparation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781089" y="3249815"/>
            <a:ext cx="342519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solidFill>
                  <a:srgbClr val="5B6D8B"/>
                </a:solidFill>
                <a:latin typeface="Arial"/>
                <a:cs typeface="Arial"/>
              </a:rPr>
              <a:t>Data</a:t>
            </a:r>
            <a:r>
              <a:rPr dirty="0" sz="2200" spc="-5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5B6D8B"/>
                </a:solidFill>
                <a:latin typeface="Arial"/>
                <a:cs typeface="Arial"/>
              </a:rPr>
              <a:t>Loading</a:t>
            </a:r>
            <a:r>
              <a:rPr dirty="0" sz="2200" spc="-5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5B6D8B"/>
                </a:solidFill>
                <a:latin typeface="Arial"/>
                <a:cs typeface="Arial"/>
              </a:rPr>
              <a:t>&amp;</a:t>
            </a:r>
            <a:r>
              <a:rPr dirty="0" sz="2200" spc="-5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5B6D8B"/>
                </a:solidFill>
                <a:latin typeface="Arial"/>
                <a:cs typeface="Arial"/>
              </a:rPr>
              <a:t>Exploration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81089" y="4259554"/>
            <a:ext cx="1358900" cy="29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Imported</a:t>
            </a:r>
            <a:r>
              <a:rPr dirty="0" sz="1750" spc="-9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 spc="-20">
                <a:solidFill>
                  <a:srgbClr val="5B6D8B"/>
                </a:solidFill>
                <a:latin typeface="Arial"/>
                <a:cs typeface="Arial"/>
              </a:rPr>
              <a:t>with</a:t>
            </a:r>
            <a:endParaRPr sz="175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189557" y="4189933"/>
            <a:ext cx="762635" cy="36195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819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45"/>
              </a:spcBef>
            </a:pPr>
            <a:r>
              <a:rPr dirty="0" sz="1750" spc="-30">
                <a:solidFill>
                  <a:srgbClr val="5B6D8B"/>
                </a:solidFill>
                <a:latin typeface="Lucida Sans"/>
                <a:cs typeface="Lucida Sans"/>
              </a:rPr>
              <a:t>pandas</a:t>
            </a:r>
            <a:endParaRPr sz="1750">
              <a:latin typeface="Lucida Sans"/>
              <a:cs typeface="Lucida San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81089" y="4621504"/>
            <a:ext cx="2284730" cy="29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Checked</a:t>
            </a:r>
            <a:r>
              <a:rPr dirty="0" sz="1750" spc="-10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structure</a:t>
            </a:r>
            <a:r>
              <a:rPr dirty="0" sz="1750" spc="-10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 spc="-20">
                <a:solidFill>
                  <a:srgbClr val="5B6D8B"/>
                </a:solidFill>
                <a:latin typeface="Arial"/>
                <a:cs typeface="Arial"/>
              </a:rPr>
              <a:t>with</a:t>
            </a:r>
            <a:endParaRPr sz="175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091035" y="4551883"/>
            <a:ext cx="829310" cy="36195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8191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645"/>
              </a:spcBef>
            </a:pPr>
            <a:r>
              <a:rPr dirty="0" sz="1750" spc="-60">
                <a:solidFill>
                  <a:srgbClr val="5B6D8B"/>
                </a:solidFill>
                <a:latin typeface="Lucida Sans"/>
                <a:cs typeface="Lucida Sans"/>
              </a:rPr>
              <a:t>df.info()</a:t>
            </a:r>
            <a:endParaRPr sz="1750">
              <a:latin typeface="Lucida Sans"/>
              <a:cs typeface="Lucida Sans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3066073" y="4913833"/>
            <a:ext cx="1071245" cy="361950"/>
          </a:xfrm>
          <a:custGeom>
            <a:avLst/>
            <a:gdLst/>
            <a:ahLst/>
            <a:cxnLst/>
            <a:rect l="l" t="t" r="r" b="b"/>
            <a:pathLst>
              <a:path w="1071245" h="361950">
                <a:moveTo>
                  <a:pt x="1071194" y="0"/>
                </a:moveTo>
                <a:lnTo>
                  <a:pt x="0" y="0"/>
                </a:lnTo>
                <a:lnTo>
                  <a:pt x="0" y="361950"/>
                </a:lnTo>
                <a:lnTo>
                  <a:pt x="1071194" y="361950"/>
                </a:lnTo>
                <a:lnTo>
                  <a:pt x="1071194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781089" y="4983454"/>
            <a:ext cx="3368040" cy="29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Summary</a:t>
            </a:r>
            <a:r>
              <a:rPr dirty="0" sz="1750" spc="-5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statistics</a:t>
            </a:r>
            <a:r>
              <a:rPr dirty="0" sz="1750" spc="-5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via</a:t>
            </a:r>
            <a:r>
              <a:rPr dirty="0" sz="1750" spc="-4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 spc="-30">
                <a:solidFill>
                  <a:srgbClr val="5B6D8B"/>
                </a:solidFill>
                <a:latin typeface="Lucida Sans"/>
                <a:cs typeface="Lucida Sans"/>
              </a:rPr>
              <a:t>.describe()</a:t>
            </a:r>
            <a:endParaRPr sz="1750">
              <a:latin typeface="Lucida Sans"/>
              <a:cs typeface="Lucida San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843614" y="3249815"/>
            <a:ext cx="258762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solidFill>
                  <a:srgbClr val="5B6D8B"/>
                </a:solidFill>
                <a:latin typeface="Arial"/>
                <a:cs typeface="Arial"/>
              </a:rPr>
              <a:t>Data</a:t>
            </a:r>
            <a:r>
              <a:rPr dirty="0" sz="2200" spc="-9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5B6D8B"/>
                </a:solidFill>
                <a:latin typeface="Arial"/>
                <a:cs typeface="Arial"/>
              </a:rPr>
              <a:t>Cleaning</a:t>
            </a:r>
            <a:r>
              <a:rPr dirty="0" sz="2200" spc="-9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5B6D8B"/>
                </a:solidFill>
                <a:latin typeface="Arial"/>
                <a:cs typeface="Arial"/>
              </a:rPr>
              <a:t>Steps</a:t>
            </a:r>
            <a:endParaRPr sz="22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843614" y="3818204"/>
            <a:ext cx="3443604" cy="1835150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50"/>
              </a:spcBef>
              <a:buChar char="•"/>
              <a:tabLst>
                <a:tab pos="354965" algn="l"/>
              </a:tabLst>
            </a:pP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Handled</a:t>
            </a:r>
            <a:r>
              <a:rPr dirty="0" sz="1750" spc="-9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missing</a:t>
            </a:r>
            <a:r>
              <a:rPr dirty="0" sz="1750" spc="-8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review</a:t>
            </a:r>
            <a:r>
              <a:rPr dirty="0" sz="1750" spc="-9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B6D8B"/>
                </a:solidFill>
                <a:latin typeface="Arial"/>
                <a:cs typeface="Arial"/>
              </a:rPr>
              <a:t>ratings</a:t>
            </a:r>
            <a:endParaRPr sz="1750">
              <a:latin typeface="Arial"/>
              <a:cs typeface="Arial"/>
            </a:endParaRPr>
          </a:p>
          <a:p>
            <a:pPr marL="355600" marR="16510" indent="-342900">
              <a:lnSpc>
                <a:spcPct val="135700"/>
              </a:lnSpc>
              <a:buChar char="•"/>
              <a:tabLst>
                <a:tab pos="355600" algn="l"/>
              </a:tabLst>
            </a:pPr>
            <a:r>
              <a:rPr dirty="0" sz="1750" spc="-10">
                <a:solidFill>
                  <a:srgbClr val="5B6D8B"/>
                </a:solidFill>
                <a:latin typeface="Arial"/>
                <a:cs typeface="Arial"/>
              </a:rPr>
              <a:t>Standardized</a:t>
            </a:r>
            <a:r>
              <a:rPr dirty="0" sz="1750" spc="-5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column</a:t>
            </a:r>
            <a:r>
              <a:rPr dirty="0" sz="1750" spc="-5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names</a:t>
            </a:r>
            <a:r>
              <a:rPr dirty="0" sz="1750" spc="-5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 spc="-25">
                <a:solidFill>
                  <a:srgbClr val="5B6D8B"/>
                </a:solidFill>
                <a:latin typeface="Arial"/>
                <a:cs typeface="Arial"/>
              </a:rPr>
              <a:t>to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snake</a:t>
            </a:r>
            <a:r>
              <a:rPr dirty="0" sz="1750" spc="-7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 spc="-20">
                <a:solidFill>
                  <a:srgbClr val="5B6D8B"/>
                </a:solidFill>
                <a:latin typeface="Arial"/>
                <a:cs typeface="Arial"/>
              </a:rPr>
              <a:t>case</a:t>
            </a:r>
            <a:endParaRPr sz="1750">
              <a:latin typeface="Arial"/>
              <a:cs typeface="Arial"/>
            </a:endParaRPr>
          </a:p>
          <a:p>
            <a:pPr marL="355600" marR="350520" indent="-342900">
              <a:lnSpc>
                <a:spcPct val="135700"/>
              </a:lnSpc>
              <a:buChar char="•"/>
              <a:tabLst>
                <a:tab pos="355600" algn="l"/>
              </a:tabLst>
            </a:pP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Created</a:t>
            </a:r>
            <a:r>
              <a:rPr dirty="0" sz="1750" spc="-6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age</a:t>
            </a:r>
            <a:r>
              <a:rPr dirty="0" sz="1750" spc="-6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groups</a:t>
            </a:r>
            <a:r>
              <a:rPr dirty="0" sz="1750" spc="-6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 spc="-25">
                <a:solidFill>
                  <a:srgbClr val="5B6D8B"/>
                </a:solidFill>
                <a:latin typeface="Arial"/>
                <a:cs typeface="Arial"/>
              </a:rPr>
              <a:t>and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purchase</a:t>
            </a:r>
            <a:r>
              <a:rPr dirty="0" sz="1750" spc="-9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frequency</a:t>
            </a:r>
            <a:r>
              <a:rPr dirty="0" sz="1750" spc="-9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B6D8B"/>
                </a:solidFill>
                <a:latin typeface="Arial"/>
                <a:cs typeface="Arial"/>
              </a:rPr>
              <a:t>metrics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5550"/>
              </a:lnSpc>
              <a:tabLst>
                <a:tab pos="1300480" algn="l"/>
                <a:tab pos="3715385" algn="l"/>
              </a:tabLst>
            </a:pPr>
            <a:r>
              <a:rPr dirty="0" spc="-25"/>
              <a:t>SQL</a:t>
            </a:r>
            <a:r>
              <a:rPr dirty="0"/>
              <a:t>	</a:t>
            </a:r>
            <a:r>
              <a:rPr dirty="0" spc="-10"/>
              <a:t>Analysis:</a:t>
            </a:r>
            <a:r>
              <a:rPr dirty="0"/>
              <a:t>	</a:t>
            </a:r>
            <a:r>
              <a:rPr dirty="0" spc="-10"/>
              <a:t>Revenue Insights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789979" y="2878099"/>
            <a:ext cx="3672840" cy="2183130"/>
            <a:chOff x="789979" y="2878099"/>
            <a:chExt cx="3672840" cy="2183130"/>
          </a:xfrm>
        </p:grpSpPr>
        <p:sp>
          <p:nvSpPr>
            <p:cNvPr id="5" name="object 5" descr=""/>
            <p:cNvSpPr/>
            <p:nvPr/>
          </p:nvSpPr>
          <p:spPr>
            <a:xfrm>
              <a:off x="793789" y="2881909"/>
              <a:ext cx="3665220" cy="2175510"/>
            </a:xfrm>
            <a:custGeom>
              <a:avLst/>
              <a:gdLst/>
              <a:ahLst/>
              <a:cxnLst/>
              <a:rect l="l" t="t" r="r" b="b"/>
              <a:pathLst>
                <a:path w="3665220" h="2175510">
                  <a:moveTo>
                    <a:pt x="3324491" y="0"/>
                  </a:moveTo>
                  <a:lnTo>
                    <a:pt x="340249" y="0"/>
                  </a:lnTo>
                  <a:lnTo>
                    <a:pt x="294344" y="3130"/>
                  </a:lnTo>
                  <a:lnTo>
                    <a:pt x="250234" y="12241"/>
                  </a:lnTo>
                  <a:lnTo>
                    <a:pt x="208340" y="26915"/>
                  </a:lnTo>
                  <a:lnTo>
                    <a:pt x="169078" y="46733"/>
                  </a:lnTo>
                  <a:lnTo>
                    <a:pt x="132868" y="71277"/>
                  </a:lnTo>
                  <a:lnTo>
                    <a:pt x="100128" y="100128"/>
                  </a:lnTo>
                  <a:lnTo>
                    <a:pt x="71277" y="132867"/>
                  </a:lnTo>
                  <a:lnTo>
                    <a:pt x="46733" y="169077"/>
                  </a:lnTo>
                  <a:lnTo>
                    <a:pt x="26915" y="208338"/>
                  </a:lnTo>
                  <a:lnTo>
                    <a:pt x="12241" y="250232"/>
                  </a:lnTo>
                  <a:lnTo>
                    <a:pt x="3130" y="294341"/>
                  </a:lnTo>
                  <a:lnTo>
                    <a:pt x="0" y="340245"/>
                  </a:lnTo>
                  <a:lnTo>
                    <a:pt x="0" y="1835264"/>
                  </a:lnTo>
                  <a:lnTo>
                    <a:pt x="3130" y="1881168"/>
                  </a:lnTo>
                  <a:lnTo>
                    <a:pt x="12241" y="1925277"/>
                  </a:lnTo>
                  <a:lnTo>
                    <a:pt x="26915" y="1967171"/>
                  </a:lnTo>
                  <a:lnTo>
                    <a:pt x="46733" y="2006432"/>
                  </a:lnTo>
                  <a:lnTo>
                    <a:pt x="71277" y="2042642"/>
                  </a:lnTo>
                  <a:lnTo>
                    <a:pt x="100128" y="2075381"/>
                  </a:lnTo>
                  <a:lnTo>
                    <a:pt x="132868" y="2104232"/>
                  </a:lnTo>
                  <a:lnTo>
                    <a:pt x="169078" y="2128776"/>
                  </a:lnTo>
                  <a:lnTo>
                    <a:pt x="208340" y="2148594"/>
                  </a:lnTo>
                  <a:lnTo>
                    <a:pt x="250234" y="2163268"/>
                  </a:lnTo>
                  <a:lnTo>
                    <a:pt x="294344" y="2172379"/>
                  </a:lnTo>
                  <a:lnTo>
                    <a:pt x="340249" y="2175510"/>
                  </a:lnTo>
                  <a:lnTo>
                    <a:pt x="3324491" y="2175510"/>
                  </a:lnTo>
                  <a:lnTo>
                    <a:pt x="3370396" y="2172379"/>
                  </a:lnTo>
                  <a:lnTo>
                    <a:pt x="3414505" y="2163268"/>
                  </a:lnTo>
                  <a:lnTo>
                    <a:pt x="3456400" y="2148594"/>
                  </a:lnTo>
                  <a:lnTo>
                    <a:pt x="3495663" y="2128776"/>
                  </a:lnTo>
                  <a:lnTo>
                    <a:pt x="3531874" y="2104232"/>
                  </a:lnTo>
                  <a:lnTo>
                    <a:pt x="3564615" y="2075381"/>
                  </a:lnTo>
                  <a:lnTo>
                    <a:pt x="3593467" y="2042642"/>
                  </a:lnTo>
                  <a:lnTo>
                    <a:pt x="3618013" y="2006432"/>
                  </a:lnTo>
                  <a:lnTo>
                    <a:pt x="3637832" y="1967171"/>
                  </a:lnTo>
                  <a:lnTo>
                    <a:pt x="3652507" y="1925277"/>
                  </a:lnTo>
                  <a:lnTo>
                    <a:pt x="3661619" y="1881168"/>
                  </a:lnTo>
                  <a:lnTo>
                    <a:pt x="3664750" y="1835264"/>
                  </a:lnTo>
                  <a:lnTo>
                    <a:pt x="3664750" y="340245"/>
                  </a:lnTo>
                  <a:lnTo>
                    <a:pt x="3661619" y="294341"/>
                  </a:lnTo>
                  <a:lnTo>
                    <a:pt x="3652507" y="250232"/>
                  </a:lnTo>
                  <a:lnTo>
                    <a:pt x="3637832" y="208338"/>
                  </a:lnTo>
                  <a:lnTo>
                    <a:pt x="3618013" y="169077"/>
                  </a:lnTo>
                  <a:lnTo>
                    <a:pt x="3593467" y="132867"/>
                  </a:lnTo>
                  <a:lnTo>
                    <a:pt x="3564615" y="100128"/>
                  </a:lnTo>
                  <a:lnTo>
                    <a:pt x="3531874" y="71277"/>
                  </a:lnTo>
                  <a:lnTo>
                    <a:pt x="3495663" y="46733"/>
                  </a:lnTo>
                  <a:lnTo>
                    <a:pt x="3456400" y="26915"/>
                  </a:lnTo>
                  <a:lnTo>
                    <a:pt x="3414505" y="12241"/>
                  </a:lnTo>
                  <a:lnTo>
                    <a:pt x="3370396" y="3130"/>
                  </a:lnTo>
                  <a:lnTo>
                    <a:pt x="3324491" y="0"/>
                  </a:lnTo>
                  <a:close/>
                </a:path>
              </a:pathLst>
            </a:custGeom>
            <a:solidFill>
              <a:srgbClr val="E6F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93789" y="2881909"/>
              <a:ext cx="3665220" cy="2175510"/>
            </a:xfrm>
            <a:custGeom>
              <a:avLst/>
              <a:gdLst/>
              <a:ahLst/>
              <a:cxnLst/>
              <a:rect l="l" t="t" r="r" b="b"/>
              <a:pathLst>
                <a:path w="3665220" h="2175510">
                  <a:moveTo>
                    <a:pt x="0" y="340245"/>
                  </a:moveTo>
                  <a:lnTo>
                    <a:pt x="3130" y="294341"/>
                  </a:lnTo>
                  <a:lnTo>
                    <a:pt x="12241" y="250232"/>
                  </a:lnTo>
                  <a:lnTo>
                    <a:pt x="26915" y="208338"/>
                  </a:lnTo>
                  <a:lnTo>
                    <a:pt x="46733" y="169077"/>
                  </a:lnTo>
                  <a:lnTo>
                    <a:pt x="71277" y="132867"/>
                  </a:lnTo>
                  <a:lnTo>
                    <a:pt x="100128" y="100128"/>
                  </a:lnTo>
                  <a:lnTo>
                    <a:pt x="132868" y="71277"/>
                  </a:lnTo>
                  <a:lnTo>
                    <a:pt x="169078" y="46733"/>
                  </a:lnTo>
                  <a:lnTo>
                    <a:pt x="208340" y="26915"/>
                  </a:lnTo>
                  <a:lnTo>
                    <a:pt x="250234" y="12241"/>
                  </a:lnTo>
                  <a:lnTo>
                    <a:pt x="294344" y="3130"/>
                  </a:lnTo>
                  <a:lnTo>
                    <a:pt x="340249" y="0"/>
                  </a:lnTo>
                  <a:lnTo>
                    <a:pt x="3324491" y="0"/>
                  </a:lnTo>
                  <a:lnTo>
                    <a:pt x="3370396" y="3130"/>
                  </a:lnTo>
                  <a:lnTo>
                    <a:pt x="3414505" y="12241"/>
                  </a:lnTo>
                  <a:lnTo>
                    <a:pt x="3456400" y="26915"/>
                  </a:lnTo>
                  <a:lnTo>
                    <a:pt x="3495663" y="46733"/>
                  </a:lnTo>
                  <a:lnTo>
                    <a:pt x="3531874" y="71277"/>
                  </a:lnTo>
                  <a:lnTo>
                    <a:pt x="3564615" y="100128"/>
                  </a:lnTo>
                  <a:lnTo>
                    <a:pt x="3593467" y="132867"/>
                  </a:lnTo>
                  <a:lnTo>
                    <a:pt x="3618013" y="169077"/>
                  </a:lnTo>
                  <a:lnTo>
                    <a:pt x="3637832" y="208338"/>
                  </a:lnTo>
                  <a:lnTo>
                    <a:pt x="3652507" y="250232"/>
                  </a:lnTo>
                  <a:lnTo>
                    <a:pt x="3661619" y="294341"/>
                  </a:lnTo>
                  <a:lnTo>
                    <a:pt x="3664750" y="340245"/>
                  </a:lnTo>
                  <a:lnTo>
                    <a:pt x="3664750" y="1835264"/>
                  </a:lnTo>
                  <a:lnTo>
                    <a:pt x="3661619" y="1881168"/>
                  </a:lnTo>
                  <a:lnTo>
                    <a:pt x="3652507" y="1925277"/>
                  </a:lnTo>
                  <a:lnTo>
                    <a:pt x="3637832" y="1967171"/>
                  </a:lnTo>
                  <a:lnTo>
                    <a:pt x="3618013" y="2006432"/>
                  </a:lnTo>
                  <a:lnTo>
                    <a:pt x="3593467" y="2042642"/>
                  </a:lnTo>
                  <a:lnTo>
                    <a:pt x="3564615" y="2075381"/>
                  </a:lnTo>
                  <a:lnTo>
                    <a:pt x="3531874" y="2104232"/>
                  </a:lnTo>
                  <a:lnTo>
                    <a:pt x="3495663" y="2128776"/>
                  </a:lnTo>
                  <a:lnTo>
                    <a:pt x="3456400" y="2148594"/>
                  </a:lnTo>
                  <a:lnTo>
                    <a:pt x="3414505" y="2163268"/>
                  </a:lnTo>
                  <a:lnTo>
                    <a:pt x="3370396" y="2172379"/>
                  </a:lnTo>
                  <a:lnTo>
                    <a:pt x="3324491" y="2175510"/>
                  </a:lnTo>
                  <a:lnTo>
                    <a:pt x="340249" y="2175510"/>
                  </a:lnTo>
                  <a:lnTo>
                    <a:pt x="294344" y="2172379"/>
                  </a:lnTo>
                  <a:lnTo>
                    <a:pt x="250234" y="2163268"/>
                  </a:lnTo>
                  <a:lnTo>
                    <a:pt x="208340" y="2148594"/>
                  </a:lnTo>
                  <a:lnTo>
                    <a:pt x="169078" y="2128776"/>
                  </a:lnTo>
                  <a:lnTo>
                    <a:pt x="132868" y="2104232"/>
                  </a:lnTo>
                  <a:lnTo>
                    <a:pt x="100128" y="2075381"/>
                  </a:lnTo>
                  <a:lnTo>
                    <a:pt x="71277" y="2042642"/>
                  </a:lnTo>
                  <a:lnTo>
                    <a:pt x="46733" y="2006432"/>
                  </a:lnTo>
                  <a:lnTo>
                    <a:pt x="26915" y="1967171"/>
                  </a:lnTo>
                  <a:lnTo>
                    <a:pt x="12241" y="1925277"/>
                  </a:lnTo>
                  <a:lnTo>
                    <a:pt x="3130" y="1881168"/>
                  </a:lnTo>
                  <a:lnTo>
                    <a:pt x="0" y="1835264"/>
                  </a:lnTo>
                  <a:lnTo>
                    <a:pt x="0" y="340245"/>
                  </a:lnTo>
                  <a:close/>
                </a:path>
              </a:pathLst>
            </a:custGeom>
            <a:ln w="7619">
              <a:solidFill>
                <a:srgbClr val="B3D4E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015523" y="3111703"/>
            <a:ext cx="2773680" cy="865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latin typeface="Arial"/>
                <a:cs typeface="Arial"/>
              </a:rPr>
              <a:t>Gender</a:t>
            </a:r>
            <a:r>
              <a:rPr dirty="0" sz="2200" spc="-10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Revenue</a:t>
            </a:r>
            <a:r>
              <a:rPr dirty="0" sz="2200" spc="-95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Split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dirty="0" sz="1750">
                <a:latin typeface="Arial"/>
                <a:cs typeface="Arial"/>
              </a:rPr>
              <a:t>Male:</a:t>
            </a:r>
            <a:r>
              <a:rPr dirty="0" sz="1750" spc="-65">
                <a:latin typeface="Arial"/>
                <a:cs typeface="Arial"/>
              </a:rPr>
              <a:t> </a:t>
            </a:r>
            <a:r>
              <a:rPr dirty="0" sz="1750" spc="-10">
                <a:latin typeface="Arial"/>
                <a:cs typeface="Arial"/>
              </a:rPr>
              <a:t>$157,890</a:t>
            </a:r>
            <a:endParaRPr sz="175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15523" y="4183595"/>
            <a:ext cx="1692275" cy="29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>
                <a:latin typeface="Arial"/>
                <a:cs typeface="Arial"/>
              </a:rPr>
              <a:t>Female:</a:t>
            </a:r>
            <a:r>
              <a:rPr dirty="0" sz="1750" spc="-90">
                <a:latin typeface="Arial"/>
                <a:cs typeface="Arial"/>
              </a:rPr>
              <a:t> </a:t>
            </a:r>
            <a:r>
              <a:rPr dirty="0" sz="1750" spc="-10">
                <a:latin typeface="Arial"/>
                <a:cs typeface="Arial"/>
              </a:rPr>
              <a:t>$75,191</a:t>
            </a:r>
            <a:endParaRPr sz="175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4681537" y="2878099"/>
            <a:ext cx="3672840" cy="2183130"/>
            <a:chOff x="4681537" y="2878099"/>
            <a:chExt cx="3672840" cy="2183130"/>
          </a:xfrm>
        </p:grpSpPr>
        <p:sp>
          <p:nvSpPr>
            <p:cNvPr id="10" name="object 10" descr=""/>
            <p:cNvSpPr/>
            <p:nvPr/>
          </p:nvSpPr>
          <p:spPr>
            <a:xfrm>
              <a:off x="4685347" y="2881909"/>
              <a:ext cx="3665220" cy="2175510"/>
            </a:xfrm>
            <a:custGeom>
              <a:avLst/>
              <a:gdLst/>
              <a:ahLst/>
              <a:cxnLst/>
              <a:rect l="l" t="t" r="r" b="b"/>
              <a:pathLst>
                <a:path w="3665220" h="2175510">
                  <a:moveTo>
                    <a:pt x="3324618" y="0"/>
                  </a:moveTo>
                  <a:lnTo>
                    <a:pt x="340249" y="0"/>
                  </a:lnTo>
                  <a:lnTo>
                    <a:pt x="294344" y="3130"/>
                  </a:lnTo>
                  <a:lnTo>
                    <a:pt x="250234" y="12241"/>
                  </a:lnTo>
                  <a:lnTo>
                    <a:pt x="208340" y="26915"/>
                  </a:lnTo>
                  <a:lnTo>
                    <a:pt x="169078" y="46733"/>
                  </a:lnTo>
                  <a:lnTo>
                    <a:pt x="132868" y="71277"/>
                  </a:lnTo>
                  <a:lnTo>
                    <a:pt x="100128" y="100128"/>
                  </a:lnTo>
                  <a:lnTo>
                    <a:pt x="71277" y="132867"/>
                  </a:lnTo>
                  <a:lnTo>
                    <a:pt x="46733" y="169077"/>
                  </a:lnTo>
                  <a:lnTo>
                    <a:pt x="26915" y="208338"/>
                  </a:lnTo>
                  <a:lnTo>
                    <a:pt x="12241" y="250232"/>
                  </a:lnTo>
                  <a:lnTo>
                    <a:pt x="3130" y="294341"/>
                  </a:lnTo>
                  <a:lnTo>
                    <a:pt x="0" y="340245"/>
                  </a:lnTo>
                  <a:lnTo>
                    <a:pt x="0" y="1835264"/>
                  </a:lnTo>
                  <a:lnTo>
                    <a:pt x="3130" y="1881168"/>
                  </a:lnTo>
                  <a:lnTo>
                    <a:pt x="12241" y="1925277"/>
                  </a:lnTo>
                  <a:lnTo>
                    <a:pt x="26915" y="1967171"/>
                  </a:lnTo>
                  <a:lnTo>
                    <a:pt x="46733" y="2006432"/>
                  </a:lnTo>
                  <a:lnTo>
                    <a:pt x="71277" y="2042642"/>
                  </a:lnTo>
                  <a:lnTo>
                    <a:pt x="100128" y="2075381"/>
                  </a:lnTo>
                  <a:lnTo>
                    <a:pt x="132868" y="2104232"/>
                  </a:lnTo>
                  <a:lnTo>
                    <a:pt x="169078" y="2128776"/>
                  </a:lnTo>
                  <a:lnTo>
                    <a:pt x="208340" y="2148594"/>
                  </a:lnTo>
                  <a:lnTo>
                    <a:pt x="250234" y="2163268"/>
                  </a:lnTo>
                  <a:lnTo>
                    <a:pt x="294344" y="2172379"/>
                  </a:lnTo>
                  <a:lnTo>
                    <a:pt x="340249" y="2175510"/>
                  </a:lnTo>
                  <a:lnTo>
                    <a:pt x="3324618" y="2175510"/>
                  </a:lnTo>
                  <a:lnTo>
                    <a:pt x="3370523" y="2172379"/>
                  </a:lnTo>
                  <a:lnTo>
                    <a:pt x="3414631" y="2163268"/>
                  </a:lnTo>
                  <a:lnTo>
                    <a:pt x="3456525" y="2148594"/>
                  </a:lnTo>
                  <a:lnTo>
                    <a:pt x="3495786" y="2128776"/>
                  </a:lnTo>
                  <a:lnTo>
                    <a:pt x="3531996" y="2104232"/>
                  </a:lnTo>
                  <a:lnTo>
                    <a:pt x="3564736" y="2075381"/>
                  </a:lnTo>
                  <a:lnTo>
                    <a:pt x="3593586" y="2042642"/>
                  </a:lnTo>
                  <a:lnTo>
                    <a:pt x="3618130" y="2006432"/>
                  </a:lnTo>
                  <a:lnTo>
                    <a:pt x="3637948" y="1967171"/>
                  </a:lnTo>
                  <a:lnTo>
                    <a:pt x="3652622" y="1925277"/>
                  </a:lnTo>
                  <a:lnTo>
                    <a:pt x="3661734" y="1881168"/>
                  </a:lnTo>
                  <a:lnTo>
                    <a:pt x="3664864" y="1835264"/>
                  </a:lnTo>
                  <a:lnTo>
                    <a:pt x="3664864" y="340245"/>
                  </a:lnTo>
                  <a:lnTo>
                    <a:pt x="3661734" y="294341"/>
                  </a:lnTo>
                  <a:lnTo>
                    <a:pt x="3652622" y="250232"/>
                  </a:lnTo>
                  <a:lnTo>
                    <a:pt x="3637948" y="208338"/>
                  </a:lnTo>
                  <a:lnTo>
                    <a:pt x="3618130" y="169077"/>
                  </a:lnTo>
                  <a:lnTo>
                    <a:pt x="3593586" y="132867"/>
                  </a:lnTo>
                  <a:lnTo>
                    <a:pt x="3564736" y="100128"/>
                  </a:lnTo>
                  <a:lnTo>
                    <a:pt x="3531996" y="71277"/>
                  </a:lnTo>
                  <a:lnTo>
                    <a:pt x="3495786" y="46733"/>
                  </a:lnTo>
                  <a:lnTo>
                    <a:pt x="3456525" y="26915"/>
                  </a:lnTo>
                  <a:lnTo>
                    <a:pt x="3414631" y="12241"/>
                  </a:lnTo>
                  <a:lnTo>
                    <a:pt x="3370523" y="3130"/>
                  </a:lnTo>
                  <a:lnTo>
                    <a:pt x="3324618" y="0"/>
                  </a:lnTo>
                  <a:close/>
                </a:path>
              </a:pathLst>
            </a:custGeom>
            <a:solidFill>
              <a:srgbClr val="E6F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685347" y="2881909"/>
              <a:ext cx="3665220" cy="2175510"/>
            </a:xfrm>
            <a:custGeom>
              <a:avLst/>
              <a:gdLst/>
              <a:ahLst/>
              <a:cxnLst/>
              <a:rect l="l" t="t" r="r" b="b"/>
              <a:pathLst>
                <a:path w="3665220" h="2175510">
                  <a:moveTo>
                    <a:pt x="0" y="340245"/>
                  </a:moveTo>
                  <a:lnTo>
                    <a:pt x="3130" y="294341"/>
                  </a:lnTo>
                  <a:lnTo>
                    <a:pt x="12241" y="250232"/>
                  </a:lnTo>
                  <a:lnTo>
                    <a:pt x="26915" y="208338"/>
                  </a:lnTo>
                  <a:lnTo>
                    <a:pt x="46733" y="169077"/>
                  </a:lnTo>
                  <a:lnTo>
                    <a:pt x="71277" y="132867"/>
                  </a:lnTo>
                  <a:lnTo>
                    <a:pt x="100128" y="100128"/>
                  </a:lnTo>
                  <a:lnTo>
                    <a:pt x="132868" y="71277"/>
                  </a:lnTo>
                  <a:lnTo>
                    <a:pt x="169078" y="46733"/>
                  </a:lnTo>
                  <a:lnTo>
                    <a:pt x="208340" y="26915"/>
                  </a:lnTo>
                  <a:lnTo>
                    <a:pt x="250234" y="12241"/>
                  </a:lnTo>
                  <a:lnTo>
                    <a:pt x="294344" y="3130"/>
                  </a:lnTo>
                  <a:lnTo>
                    <a:pt x="340249" y="0"/>
                  </a:lnTo>
                  <a:lnTo>
                    <a:pt x="3324618" y="0"/>
                  </a:lnTo>
                  <a:lnTo>
                    <a:pt x="3370523" y="3130"/>
                  </a:lnTo>
                  <a:lnTo>
                    <a:pt x="3414631" y="12241"/>
                  </a:lnTo>
                  <a:lnTo>
                    <a:pt x="3456525" y="26915"/>
                  </a:lnTo>
                  <a:lnTo>
                    <a:pt x="3495786" y="46733"/>
                  </a:lnTo>
                  <a:lnTo>
                    <a:pt x="3531996" y="71277"/>
                  </a:lnTo>
                  <a:lnTo>
                    <a:pt x="3564736" y="100128"/>
                  </a:lnTo>
                  <a:lnTo>
                    <a:pt x="3593586" y="132867"/>
                  </a:lnTo>
                  <a:lnTo>
                    <a:pt x="3618130" y="169077"/>
                  </a:lnTo>
                  <a:lnTo>
                    <a:pt x="3637948" y="208338"/>
                  </a:lnTo>
                  <a:lnTo>
                    <a:pt x="3652622" y="250232"/>
                  </a:lnTo>
                  <a:lnTo>
                    <a:pt x="3661734" y="294341"/>
                  </a:lnTo>
                  <a:lnTo>
                    <a:pt x="3664864" y="340245"/>
                  </a:lnTo>
                  <a:lnTo>
                    <a:pt x="3664864" y="1835264"/>
                  </a:lnTo>
                  <a:lnTo>
                    <a:pt x="3661734" y="1881168"/>
                  </a:lnTo>
                  <a:lnTo>
                    <a:pt x="3652622" y="1925277"/>
                  </a:lnTo>
                  <a:lnTo>
                    <a:pt x="3637948" y="1967171"/>
                  </a:lnTo>
                  <a:lnTo>
                    <a:pt x="3618130" y="2006432"/>
                  </a:lnTo>
                  <a:lnTo>
                    <a:pt x="3593586" y="2042642"/>
                  </a:lnTo>
                  <a:lnTo>
                    <a:pt x="3564736" y="2075381"/>
                  </a:lnTo>
                  <a:lnTo>
                    <a:pt x="3531996" y="2104232"/>
                  </a:lnTo>
                  <a:lnTo>
                    <a:pt x="3495786" y="2128776"/>
                  </a:lnTo>
                  <a:lnTo>
                    <a:pt x="3456525" y="2148594"/>
                  </a:lnTo>
                  <a:lnTo>
                    <a:pt x="3414631" y="2163268"/>
                  </a:lnTo>
                  <a:lnTo>
                    <a:pt x="3370523" y="2172379"/>
                  </a:lnTo>
                  <a:lnTo>
                    <a:pt x="3324618" y="2175510"/>
                  </a:lnTo>
                  <a:lnTo>
                    <a:pt x="340249" y="2175510"/>
                  </a:lnTo>
                  <a:lnTo>
                    <a:pt x="294344" y="2172379"/>
                  </a:lnTo>
                  <a:lnTo>
                    <a:pt x="250234" y="2163268"/>
                  </a:lnTo>
                  <a:lnTo>
                    <a:pt x="208340" y="2148594"/>
                  </a:lnTo>
                  <a:lnTo>
                    <a:pt x="169078" y="2128776"/>
                  </a:lnTo>
                  <a:lnTo>
                    <a:pt x="132868" y="2104232"/>
                  </a:lnTo>
                  <a:lnTo>
                    <a:pt x="100128" y="2075381"/>
                  </a:lnTo>
                  <a:lnTo>
                    <a:pt x="71277" y="2042642"/>
                  </a:lnTo>
                  <a:lnTo>
                    <a:pt x="46733" y="2006432"/>
                  </a:lnTo>
                  <a:lnTo>
                    <a:pt x="26915" y="1967171"/>
                  </a:lnTo>
                  <a:lnTo>
                    <a:pt x="12241" y="1925277"/>
                  </a:lnTo>
                  <a:lnTo>
                    <a:pt x="3130" y="1881168"/>
                  </a:lnTo>
                  <a:lnTo>
                    <a:pt x="0" y="1835264"/>
                  </a:lnTo>
                  <a:lnTo>
                    <a:pt x="0" y="340245"/>
                  </a:lnTo>
                  <a:close/>
                </a:path>
              </a:pathLst>
            </a:custGeom>
            <a:ln w="7619">
              <a:solidFill>
                <a:srgbClr val="B3D4E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4907076" y="3111703"/>
            <a:ext cx="305308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latin typeface="Arial"/>
                <a:cs typeface="Arial"/>
              </a:rPr>
              <a:t>Age</a:t>
            </a:r>
            <a:r>
              <a:rPr dirty="0" sz="2200" spc="-5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Group</a:t>
            </a:r>
            <a:r>
              <a:rPr dirty="0" sz="2200" spc="-55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Performance</a:t>
            </a:r>
            <a:endParaRPr sz="22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907076" y="4038943"/>
            <a:ext cx="2162175" cy="29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>
                <a:latin typeface="Arial"/>
                <a:cs typeface="Arial"/>
              </a:rPr>
              <a:t>Young</a:t>
            </a:r>
            <a:r>
              <a:rPr dirty="0" sz="1750" spc="-55">
                <a:latin typeface="Arial"/>
                <a:cs typeface="Arial"/>
              </a:rPr>
              <a:t> </a:t>
            </a:r>
            <a:r>
              <a:rPr dirty="0" sz="1750">
                <a:latin typeface="Arial"/>
                <a:cs typeface="Arial"/>
              </a:rPr>
              <a:t>Adult:</a:t>
            </a:r>
            <a:r>
              <a:rPr dirty="0" sz="1750" spc="-50">
                <a:latin typeface="Arial"/>
                <a:cs typeface="Arial"/>
              </a:rPr>
              <a:t> </a:t>
            </a:r>
            <a:r>
              <a:rPr dirty="0" sz="1750" spc="-10">
                <a:latin typeface="Arial"/>
                <a:cs typeface="Arial"/>
              </a:rPr>
              <a:t>$62,143</a:t>
            </a:r>
            <a:endParaRPr sz="175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907076" y="4537925"/>
            <a:ext cx="2172970" cy="29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20">
                <a:latin typeface="Arial"/>
                <a:cs typeface="Arial"/>
              </a:rPr>
              <a:t>Middle-</a:t>
            </a:r>
            <a:r>
              <a:rPr dirty="0" sz="1750">
                <a:latin typeface="Arial"/>
                <a:cs typeface="Arial"/>
              </a:rPr>
              <a:t>aged:</a:t>
            </a:r>
            <a:r>
              <a:rPr dirty="0" sz="1750" spc="-20">
                <a:latin typeface="Arial"/>
                <a:cs typeface="Arial"/>
              </a:rPr>
              <a:t> </a:t>
            </a:r>
            <a:r>
              <a:rPr dirty="0" sz="1750" spc="-10">
                <a:latin typeface="Arial"/>
                <a:cs typeface="Arial"/>
              </a:rPr>
              <a:t>$59,197</a:t>
            </a:r>
            <a:endParaRPr sz="1750">
              <a:latin typeface="Arial"/>
              <a:cs typeface="Arial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789979" y="5280418"/>
            <a:ext cx="7564120" cy="1828800"/>
            <a:chOff x="789979" y="5280418"/>
            <a:chExt cx="7564120" cy="1828800"/>
          </a:xfrm>
        </p:grpSpPr>
        <p:sp>
          <p:nvSpPr>
            <p:cNvPr id="16" name="object 16" descr=""/>
            <p:cNvSpPr/>
            <p:nvPr/>
          </p:nvSpPr>
          <p:spPr>
            <a:xfrm>
              <a:off x="793789" y="5284228"/>
              <a:ext cx="7556500" cy="1821180"/>
            </a:xfrm>
            <a:custGeom>
              <a:avLst/>
              <a:gdLst/>
              <a:ahLst/>
              <a:cxnLst/>
              <a:rect l="l" t="t" r="r" b="b"/>
              <a:pathLst>
                <a:path w="7556500" h="1821179">
                  <a:moveTo>
                    <a:pt x="7216190" y="0"/>
                  </a:moveTo>
                  <a:lnTo>
                    <a:pt x="340233" y="0"/>
                  </a:lnTo>
                  <a:lnTo>
                    <a:pt x="294329" y="3129"/>
                  </a:lnTo>
                  <a:lnTo>
                    <a:pt x="250222" y="12240"/>
                  </a:lnTo>
                  <a:lnTo>
                    <a:pt x="208329" y="26913"/>
                  </a:lnTo>
                  <a:lnTo>
                    <a:pt x="169070" y="46730"/>
                  </a:lnTo>
                  <a:lnTo>
                    <a:pt x="132862" y="71272"/>
                  </a:lnTo>
                  <a:lnTo>
                    <a:pt x="100123" y="100122"/>
                  </a:lnTo>
                  <a:lnTo>
                    <a:pt x="71274" y="132859"/>
                  </a:lnTo>
                  <a:lnTo>
                    <a:pt x="46731" y="169068"/>
                  </a:lnTo>
                  <a:lnTo>
                    <a:pt x="26914" y="208327"/>
                  </a:lnTo>
                  <a:lnTo>
                    <a:pt x="12240" y="250220"/>
                  </a:lnTo>
                  <a:lnTo>
                    <a:pt x="3129" y="294328"/>
                  </a:lnTo>
                  <a:lnTo>
                    <a:pt x="0" y="340232"/>
                  </a:lnTo>
                  <a:lnTo>
                    <a:pt x="0" y="1480947"/>
                  </a:lnTo>
                  <a:lnTo>
                    <a:pt x="3129" y="1526848"/>
                  </a:lnTo>
                  <a:lnTo>
                    <a:pt x="12240" y="1570954"/>
                  </a:lnTo>
                  <a:lnTo>
                    <a:pt x="26914" y="1612846"/>
                  </a:lnTo>
                  <a:lnTo>
                    <a:pt x="46731" y="1652106"/>
                  </a:lnTo>
                  <a:lnTo>
                    <a:pt x="71274" y="1688314"/>
                  </a:lnTo>
                  <a:lnTo>
                    <a:pt x="100123" y="1721053"/>
                  </a:lnTo>
                  <a:lnTo>
                    <a:pt x="132862" y="1749903"/>
                  </a:lnTo>
                  <a:lnTo>
                    <a:pt x="169070" y="1774446"/>
                  </a:lnTo>
                  <a:lnTo>
                    <a:pt x="208329" y="1794264"/>
                  </a:lnTo>
                  <a:lnTo>
                    <a:pt x="250222" y="1808938"/>
                  </a:lnTo>
                  <a:lnTo>
                    <a:pt x="294329" y="1818049"/>
                  </a:lnTo>
                  <a:lnTo>
                    <a:pt x="340233" y="1821179"/>
                  </a:lnTo>
                  <a:lnTo>
                    <a:pt x="7216190" y="1821179"/>
                  </a:lnTo>
                  <a:lnTo>
                    <a:pt x="7262092" y="1818049"/>
                  </a:lnTo>
                  <a:lnTo>
                    <a:pt x="7306198" y="1808938"/>
                  </a:lnTo>
                  <a:lnTo>
                    <a:pt x="7348090" y="1794264"/>
                  </a:lnTo>
                  <a:lnTo>
                    <a:pt x="7387350" y="1774446"/>
                  </a:lnTo>
                  <a:lnTo>
                    <a:pt x="7423558" y="1749903"/>
                  </a:lnTo>
                  <a:lnTo>
                    <a:pt x="7456296" y="1721053"/>
                  </a:lnTo>
                  <a:lnTo>
                    <a:pt x="7485147" y="1688314"/>
                  </a:lnTo>
                  <a:lnTo>
                    <a:pt x="7509690" y="1652106"/>
                  </a:lnTo>
                  <a:lnTo>
                    <a:pt x="7529508" y="1612846"/>
                  </a:lnTo>
                  <a:lnTo>
                    <a:pt x="7544182" y="1570954"/>
                  </a:lnTo>
                  <a:lnTo>
                    <a:pt x="7553293" y="1526848"/>
                  </a:lnTo>
                  <a:lnTo>
                    <a:pt x="7556423" y="1480947"/>
                  </a:lnTo>
                  <a:lnTo>
                    <a:pt x="7556423" y="340232"/>
                  </a:lnTo>
                  <a:lnTo>
                    <a:pt x="7553293" y="294328"/>
                  </a:lnTo>
                  <a:lnTo>
                    <a:pt x="7544182" y="250220"/>
                  </a:lnTo>
                  <a:lnTo>
                    <a:pt x="7529508" y="208327"/>
                  </a:lnTo>
                  <a:lnTo>
                    <a:pt x="7509690" y="169068"/>
                  </a:lnTo>
                  <a:lnTo>
                    <a:pt x="7485147" y="132859"/>
                  </a:lnTo>
                  <a:lnTo>
                    <a:pt x="7456297" y="100122"/>
                  </a:lnTo>
                  <a:lnTo>
                    <a:pt x="7423558" y="71272"/>
                  </a:lnTo>
                  <a:lnTo>
                    <a:pt x="7387350" y="46730"/>
                  </a:lnTo>
                  <a:lnTo>
                    <a:pt x="7348090" y="26913"/>
                  </a:lnTo>
                  <a:lnTo>
                    <a:pt x="7306198" y="12240"/>
                  </a:lnTo>
                  <a:lnTo>
                    <a:pt x="7262092" y="3129"/>
                  </a:lnTo>
                  <a:lnTo>
                    <a:pt x="7216190" y="0"/>
                  </a:lnTo>
                  <a:close/>
                </a:path>
              </a:pathLst>
            </a:custGeom>
            <a:solidFill>
              <a:srgbClr val="E6F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93789" y="5284228"/>
              <a:ext cx="7556500" cy="1821180"/>
            </a:xfrm>
            <a:custGeom>
              <a:avLst/>
              <a:gdLst/>
              <a:ahLst/>
              <a:cxnLst/>
              <a:rect l="l" t="t" r="r" b="b"/>
              <a:pathLst>
                <a:path w="7556500" h="1821179">
                  <a:moveTo>
                    <a:pt x="0" y="340232"/>
                  </a:moveTo>
                  <a:lnTo>
                    <a:pt x="3129" y="294328"/>
                  </a:lnTo>
                  <a:lnTo>
                    <a:pt x="12240" y="250220"/>
                  </a:lnTo>
                  <a:lnTo>
                    <a:pt x="26914" y="208327"/>
                  </a:lnTo>
                  <a:lnTo>
                    <a:pt x="46731" y="169068"/>
                  </a:lnTo>
                  <a:lnTo>
                    <a:pt x="71274" y="132859"/>
                  </a:lnTo>
                  <a:lnTo>
                    <a:pt x="100123" y="100122"/>
                  </a:lnTo>
                  <a:lnTo>
                    <a:pt x="132862" y="71272"/>
                  </a:lnTo>
                  <a:lnTo>
                    <a:pt x="169070" y="46730"/>
                  </a:lnTo>
                  <a:lnTo>
                    <a:pt x="208329" y="26913"/>
                  </a:lnTo>
                  <a:lnTo>
                    <a:pt x="250222" y="12240"/>
                  </a:lnTo>
                  <a:lnTo>
                    <a:pt x="294329" y="3129"/>
                  </a:lnTo>
                  <a:lnTo>
                    <a:pt x="340233" y="0"/>
                  </a:lnTo>
                  <a:lnTo>
                    <a:pt x="7216190" y="0"/>
                  </a:lnTo>
                  <a:lnTo>
                    <a:pt x="7262092" y="3129"/>
                  </a:lnTo>
                  <a:lnTo>
                    <a:pt x="7306198" y="12240"/>
                  </a:lnTo>
                  <a:lnTo>
                    <a:pt x="7348090" y="26913"/>
                  </a:lnTo>
                  <a:lnTo>
                    <a:pt x="7387350" y="46730"/>
                  </a:lnTo>
                  <a:lnTo>
                    <a:pt x="7423558" y="71272"/>
                  </a:lnTo>
                  <a:lnTo>
                    <a:pt x="7456297" y="100122"/>
                  </a:lnTo>
                  <a:lnTo>
                    <a:pt x="7485147" y="132859"/>
                  </a:lnTo>
                  <a:lnTo>
                    <a:pt x="7509690" y="169068"/>
                  </a:lnTo>
                  <a:lnTo>
                    <a:pt x="7529508" y="208327"/>
                  </a:lnTo>
                  <a:lnTo>
                    <a:pt x="7544182" y="250220"/>
                  </a:lnTo>
                  <a:lnTo>
                    <a:pt x="7553293" y="294328"/>
                  </a:lnTo>
                  <a:lnTo>
                    <a:pt x="7556423" y="340232"/>
                  </a:lnTo>
                  <a:lnTo>
                    <a:pt x="7556423" y="1480947"/>
                  </a:lnTo>
                  <a:lnTo>
                    <a:pt x="7553293" y="1526848"/>
                  </a:lnTo>
                  <a:lnTo>
                    <a:pt x="7544182" y="1570954"/>
                  </a:lnTo>
                  <a:lnTo>
                    <a:pt x="7529508" y="1612846"/>
                  </a:lnTo>
                  <a:lnTo>
                    <a:pt x="7509690" y="1652106"/>
                  </a:lnTo>
                  <a:lnTo>
                    <a:pt x="7485147" y="1688314"/>
                  </a:lnTo>
                  <a:lnTo>
                    <a:pt x="7456296" y="1721053"/>
                  </a:lnTo>
                  <a:lnTo>
                    <a:pt x="7423558" y="1749903"/>
                  </a:lnTo>
                  <a:lnTo>
                    <a:pt x="7387350" y="1774446"/>
                  </a:lnTo>
                  <a:lnTo>
                    <a:pt x="7348090" y="1794264"/>
                  </a:lnTo>
                  <a:lnTo>
                    <a:pt x="7306198" y="1808938"/>
                  </a:lnTo>
                  <a:lnTo>
                    <a:pt x="7262092" y="1818049"/>
                  </a:lnTo>
                  <a:lnTo>
                    <a:pt x="7216190" y="1821179"/>
                  </a:lnTo>
                  <a:lnTo>
                    <a:pt x="340233" y="1821179"/>
                  </a:lnTo>
                  <a:lnTo>
                    <a:pt x="294329" y="1818049"/>
                  </a:lnTo>
                  <a:lnTo>
                    <a:pt x="250222" y="1808938"/>
                  </a:lnTo>
                  <a:lnTo>
                    <a:pt x="208329" y="1794264"/>
                  </a:lnTo>
                  <a:lnTo>
                    <a:pt x="169070" y="1774446"/>
                  </a:lnTo>
                  <a:lnTo>
                    <a:pt x="132862" y="1749903"/>
                  </a:lnTo>
                  <a:lnTo>
                    <a:pt x="100123" y="1721053"/>
                  </a:lnTo>
                  <a:lnTo>
                    <a:pt x="71274" y="1688314"/>
                  </a:lnTo>
                  <a:lnTo>
                    <a:pt x="46731" y="1652106"/>
                  </a:lnTo>
                  <a:lnTo>
                    <a:pt x="26914" y="1612846"/>
                  </a:lnTo>
                  <a:lnTo>
                    <a:pt x="12240" y="1570954"/>
                  </a:lnTo>
                  <a:lnTo>
                    <a:pt x="3129" y="1526848"/>
                  </a:lnTo>
                  <a:lnTo>
                    <a:pt x="0" y="1480947"/>
                  </a:lnTo>
                  <a:lnTo>
                    <a:pt x="0" y="340232"/>
                  </a:lnTo>
                  <a:close/>
                </a:path>
              </a:pathLst>
            </a:custGeom>
            <a:ln w="7619">
              <a:solidFill>
                <a:srgbClr val="B3D4E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1015523" y="5514035"/>
            <a:ext cx="2696210" cy="865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latin typeface="Arial"/>
                <a:cs typeface="Arial"/>
              </a:rPr>
              <a:t>Shipping</a:t>
            </a:r>
            <a:r>
              <a:rPr dirty="0" sz="2200" spc="-105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Comparison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dirty="0" sz="1750">
                <a:latin typeface="Arial"/>
                <a:cs typeface="Arial"/>
              </a:rPr>
              <a:t>Standard:</a:t>
            </a:r>
            <a:r>
              <a:rPr dirty="0" sz="1750" spc="-85">
                <a:latin typeface="Arial"/>
                <a:cs typeface="Arial"/>
              </a:rPr>
              <a:t> </a:t>
            </a:r>
            <a:r>
              <a:rPr dirty="0" sz="1750">
                <a:latin typeface="Arial"/>
                <a:cs typeface="Arial"/>
              </a:rPr>
              <a:t>$58.46</a:t>
            </a:r>
            <a:r>
              <a:rPr dirty="0" sz="1750" spc="-85">
                <a:latin typeface="Arial"/>
                <a:cs typeface="Arial"/>
              </a:rPr>
              <a:t> </a:t>
            </a:r>
            <a:r>
              <a:rPr dirty="0" sz="1750" spc="-25">
                <a:latin typeface="Arial"/>
                <a:cs typeface="Arial"/>
              </a:rPr>
              <a:t>avg</a:t>
            </a:r>
            <a:endParaRPr sz="175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015523" y="6585928"/>
            <a:ext cx="2049780" cy="29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>
                <a:latin typeface="Arial"/>
                <a:cs typeface="Arial"/>
              </a:rPr>
              <a:t>Express:</a:t>
            </a:r>
            <a:r>
              <a:rPr dirty="0" sz="1750" spc="-85">
                <a:latin typeface="Arial"/>
                <a:cs typeface="Arial"/>
              </a:rPr>
              <a:t> </a:t>
            </a:r>
            <a:r>
              <a:rPr dirty="0" sz="1750">
                <a:latin typeface="Arial"/>
                <a:cs typeface="Arial"/>
              </a:rPr>
              <a:t>$60.48</a:t>
            </a:r>
            <a:r>
              <a:rPr dirty="0" sz="1750" spc="-80">
                <a:latin typeface="Arial"/>
                <a:cs typeface="Arial"/>
              </a:rPr>
              <a:t> </a:t>
            </a:r>
            <a:r>
              <a:rPr dirty="0" sz="1750" spc="-25">
                <a:latin typeface="Arial"/>
                <a:cs typeface="Arial"/>
              </a:rPr>
              <a:t>avg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089" y="1313611"/>
            <a:ext cx="5361940" cy="7035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14550" algn="l"/>
              </a:tabLst>
            </a:pPr>
            <a:r>
              <a:rPr dirty="0" spc="-10"/>
              <a:t>Product</a:t>
            </a:r>
            <a:r>
              <a:rPr dirty="0"/>
              <a:t>	</a:t>
            </a:r>
            <a:r>
              <a:rPr dirty="0" spc="-10"/>
              <a:t>Performance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778549" y="2345296"/>
            <a:ext cx="7586980" cy="1398905"/>
            <a:chOff x="778549" y="2345296"/>
            <a:chExt cx="7586980" cy="1398905"/>
          </a:xfrm>
        </p:grpSpPr>
        <p:sp>
          <p:nvSpPr>
            <p:cNvPr id="5" name="object 5" descr=""/>
            <p:cNvSpPr/>
            <p:nvPr/>
          </p:nvSpPr>
          <p:spPr>
            <a:xfrm>
              <a:off x="793789" y="2360536"/>
              <a:ext cx="7556500" cy="1368425"/>
            </a:xfrm>
            <a:custGeom>
              <a:avLst/>
              <a:gdLst/>
              <a:ahLst/>
              <a:cxnLst/>
              <a:rect l="l" t="t" r="r" b="b"/>
              <a:pathLst>
                <a:path w="7556500" h="1368425">
                  <a:moveTo>
                    <a:pt x="0" y="340232"/>
                  </a:moveTo>
                  <a:lnTo>
                    <a:pt x="3130" y="294331"/>
                  </a:lnTo>
                  <a:lnTo>
                    <a:pt x="12241" y="250225"/>
                  </a:lnTo>
                  <a:lnTo>
                    <a:pt x="26914" y="208333"/>
                  </a:lnTo>
                  <a:lnTo>
                    <a:pt x="46732" y="169073"/>
                  </a:lnTo>
                  <a:lnTo>
                    <a:pt x="71275" y="132865"/>
                  </a:lnTo>
                  <a:lnTo>
                    <a:pt x="100126" y="100126"/>
                  </a:lnTo>
                  <a:lnTo>
                    <a:pt x="132865" y="71276"/>
                  </a:lnTo>
                  <a:lnTo>
                    <a:pt x="169074" y="46733"/>
                  </a:lnTo>
                  <a:lnTo>
                    <a:pt x="208334" y="26915"/>
                  </a:lnTo>
                  <a:lnTo>
                    <a:pt x="250228" y="12241"/>
                  </a:lnTo>
                  <a:lnTo>
                    <a:pt x="294336" y="3130"/>
                  </a:lnTo>
                  <a:lnTo>
                    <a:pt x="340240" y="0"/>
                  </a:lnTo>
                  <a:lnTo>
                    <a:pt x="7216178" y="0"/>
                  </a:lnTo>
                  <a:lnTo>
                    <a:pt x="7262082" y="3130"/>
                  </a:lnTo>
                  <a:lnTo>
                    <a:pt x="7306191" y="12241"/>
                  </a:lnTo>
                  <a:lnTo>
                    <a:pt x="7348085" y="26915"/>
                  </a:lnTo>
                  <a:lnTo>
                    <a:pt x="7387346" y="46733"/>
                  </a:lnTo>
                  <a:lnTo>
                    <a:pt x="7423555" y="71276"/>
                  </a:lnTo>
                  <a:lnTo>
                    <a:pt x="7456295" y="100126"/>
                  </a:lnTo>
                  <a:lnTo>
                    <a:pt x="7485146" y="132865"/>
                  </a:lnTo>
                  <a:lnTo>
                    <a:pt x="7509690" y="169073"/>
                  </a:lnTo>
                  <a:lnTo>
                    <a:pt x="7529508" y="208333"/>
                  </a:lnTo>
                  <a:lnTo>
                    <a:pt x="7544182" y="250225"/>
                  </a:lnTo>
                  <a:lnTo>
                    <a:pt x="7553293" y="294331"/>
                  </a:lnTo>
                  <a:lnTo>
                    <a:pt x="7556423" y="340232"/>
                  </a:lnTo>
                  <a:lnTo>
                    <a:pt x="7556423" y="1027671"/>
                  </a:lnTo>
                  <a:lnTo>
                    <a:pt x="7553293" y="1073575"/>
                  </a:lnTo>
                  <a:lnTo>
                    <a:pt x="7544182" y="1117683"/>
                  </a:lnTo>
                  <a:lnTo>
                    <a:pt x="7529508" y="1159576"/>
                  </a:lnTo>
                  <a:lnTo>
                    <a:pt x="7509690" y="1198836"/>
                  </a:lnTo>
                  <a:lnTo>
                    <a:pt x="7485146" y="1235044"/>
                  </a:lnTo>
                  <a:lnTo>
                    <a:pt x="7456295" y="1267782"/>
                  </a:lnTo>
                  <a:lnTo>
                    <a:pt x="7423555" y="1296631"/>
                  </a:lnTo>
                  <a:lnTo>
                    <a:pt x="7387346" y="1321173"/>
                  </a:lnTo>
                  <a:lnTo>
                    <a:pt x="7348085" y="1340990"/>
                  </a:lnTo>
                  <a:lnTo>
                    <a:pt x="7306191" y="1355663"/>
                  </a:lnTo>
                  <a:lnTo>
                    <a:pt x="7262082" y="1364774"/>
                  </a:lnTo>
                  <a:lnTo>
                    <a:pt x="7216178" y="1367904"/>
                  </a:lnTo>
                  <a:lnTo>
                    <a:pt x="340240" y="1367904"/>
                  </a:lnTo>
                  <a:lnTo>
                    <a:pt x="294336" y="1364774"/>
                  </a:lnTo>
                  <a:lnTo>
                    <a:pt x="250228" y="1355663"/>
                  </a:lnTo>
                  <a:lnTo>
                    <a:pt x="208334" y="1340990"/>
                  </a:lnTo>
                  <a:lnTo>
                    <a:pt x="169074" y="1321173"/>
                  </a:lnTo>
                  <a:lnTo>
                    <a:pt x="132865" y="1296631"/>
                  </a:lnTo>
                  <a:lnTo>
                    <a:pt x="100126" y="1267782"/>
                  </a:lnTo>
                  <a:lnTo>
                    <a:pt x="71275" y="1235044"/>
                  </a:lnTo>
                  <a:lnTo>
                    <a:pt x="46732" y="1198836"/>
                  </a:lnTo>
                  <a:lnTo>
                    <a:pt x="26914" y="1159576"/>
                  </a:lnTo>
                  <a:lnTo>
                    <a:pt x="12241" y="1117683"/>
                  </a:lnTo>
                  <a:lnTo>
                    <a:pt x="3130" y="1073575"/>
                  </a:lnTo>
                  <a:lnTo>
                    <a:pt x="0" y="1027671"/>
                  </a:lnTo>
                  <a:lnTo>
                    <a:pt x="0" y="340232"/>
                  </a:lnTo>
                  <a:close/>
                </a:path>
              </a:pathLst>
            </a:custGeom>
            <a:ln w="30479">
              <a:solidFill>
                <a:srgbClr val="B3D4E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24269" y="2391016"/>
              <a:ext cx="907415" cy="1307465"/>
            </a:xfrm>
            <a:custGeom>
              <a:avLst/>
              <a:gdLst/>
              <a:ahLst/>
              <a:cxnLst/>
              <a:rect l="l" t="t" r="r" b="b"/>
              <a:pathLst>
                <a:path w="907414" h="1307464">
                  <a:moveTo>
                    <a:pt x="603587" y="0"/>
                  </a:moveTo>
                  <a:lnTo>
                    <a:pt x="303667" y="0"/>
                  </a:lnTo>
                  <a:lnTo>
                    <a:pt x="254683" y="4004"/>
                  </a:lnTo>
                  <a:lnTo>
                    <a:pt x="208116" y="15589"/>
                  </a:lnTo>
                  <a:lnTo>
                    <a:pt x="164610" y="34107"/>
                  </a:lnTo>
                  <a:lnTo>
                    <a:pt x="124810" y="58914"/>
                  </a:lnTo>
                  <a:lnTo>
                    <a:pt x="89363" y="89365"/>
                  </a:lnTo>
                  <a:lnTo>
                    <a:pt x="58913" y="124812"/>
                  </a:lnTo>
                  <a:lnTo>
                    <a:pt x="34107" y="164612"/>
                  </a:lnTo>
                  <a:lnTo>
                    <a:pt x="15589" y="208119"/>
                  </a:lnTo>
                  <a:lnTo>
                    <a:pt x="4004" y="254686"/>
                  </a:lnTo>
                  <a:lnTo>
                    <a:pt x="0" y="303669"/>
                  </a:lnTo>
                  <a:lnTo>
                    <a:pt x="0" y="1003287"/>
                  </a:lnTo>
                  <a:lnTo>
                    <a:pt x="4004" y="1052270"/>
                  </a:lnTo>
                  <a:lnTo>
                    <a:pt x="15589" y="1098836"/>
                  </a:lnTo>
                  <a:lnTo>
                    <a:pt x="34107" y="1142341"/>
                  </a:lnTo>
                  <a:lnTo>
                    <a:pt x="58913" y="1182139"/>
                  </a:lnTo>
                  <a:lnTo>
                    <a:pt x="89363" y="1217585"/>
                  </a:lnTo>
                  <a:lnTo>
                    <a:pt x="124810" y="1248033"/>
                  </a:lnTo>
                  <a:lnTo>
                    <a:pt x="164610" y="1272839"/>
                  </a:lnTo>
                  <a:lnTo>
                    <a:pt x="208116" y="1291356"/>
                  </a:lnTo>
                  <a:lnTo>
                    <a:pt x="254683" y="1302939"/>
                  </a:lnTo>
                  <a:lnTo>
                    <a:pt x="303667" y="1306944"/>
                  </a:lnTo>
                  <a:lnTo>
                    <a:pt x="603587" y="1306944"/>
                  </a:lnTo>
                  <a:lnTo>
                    <a:pt x="652571" y="1302939"/>
                  </a:lnTo>
                  <a:lnTo>
                    <a:pt x="699138" y="1291356"/>
                  </a:lnTo>
                  <a:lnTo>
                    <a:pt x="742645" y="1272839"/>
                  </a:lnTo>
                  <a:lnTo>
                    <a:pt x="782444" y="1248033"/>
                  </a:lnTo>
                  <a:lnTo>
                    <a:pt x="817892" y="1217585"/>
                  </a:lnTo>
                  <a:lnTo>
                    <a:pt x="848342" y="1182139"/>
                  </a:lnTo>
                  <a:lnTo>
                    <a:pt x="873148" y="1142341"/>
                  </a:lnTo>
                  <a:lnTo>
                    <a:pt x="891667" y="1098836"/>
                  </a:lnTo>
                  <a:lnTo>
                    <a:pt x="903251" y="1052270"/>
                  </a:lnTo>
                  <a:lnTo>
                    <a:pt x="907256" y="1003287"/>
                  </a:lnTo>
                  <a:lnTo>
                    <a:pt x="907256" y="303669"/>
                  </a:lnTo>
                  <a:lnTo>
                    <a:pt x="903251" y="254686"/>
                  </a:lnTo>
                  <a:lnTo>
                    <a:pt x="891667" y="208119"/>
                  </a:lnTo>
                  <a:lnTo>
                    <a:pt x="873148" y="164612"/>
                  </a:lnTo>
                  <a:lnTo>
                    <a:pt x="848342" y="124812"/>
                  </a:lnTo>
                  <a:lnTo>
                    <a:pt x="817892" y="89365"/>
                  </a:lnTo>
                  <a:lnTo>
                    <a:pt x="782444" y="58914"/>
                  </a:lnTo>
                  <a:lnTo>
                    <a:pt x="742645" y="34107"/>
                  </a:lnTo>
                  <a:lnTo>
                    <a:pt x="699138" y="15589"/>
                  </a:lnTo>
                  <a:lnTo>
                    <a:pt x="652571" y="4004"/>
                  </a:lnTo>
                  <a:lnTo>
                    <a:pt x="603587" y="0"/>
                  </a:lnTo>
                  <a:close/>
                </a:path>
              </a:pathLst>
            </a:custGeom>
            <a:solidFill>
              <a:srgbClr val="E6F7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091247" y="2757055"/>
            <a:ext cx="212725" cy="429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 spc="-50">
                <a:latin typeface="Arial"/>
                <a:cs typeface="Arial"/>
              </a:rPr>
              <a:t>1</a:t>
            </a:r>
            <a:endParaRPr sz="265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945639" y="2613190"/>
            <a:ext cx="4260215" cy="865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25">
                <a:solidFill>
                  <a:srgbClr val="5B6D8B"/>
                </a:solidFill>
                <a:latin typeface="Arial"/>
                <a:cs typeface="Arial"/>
              </a:rPr>
              <a:t>Top-</a:t>
            </a:r>
            <a:r>
              <a:rPr dirty="0" sz="2200">
                <a:solidFill>
                  <a:srgbClr val="5B6D8B"/>
                </a:solidFill>
                <a:latin typeface="Arial"/>
                <a:cs typeface="Arial"/>
              </a:rPr>
              <a:t>Rated</a:t>
            </a:r>
            <a:r>
              <a:rPr dirty="0" sz="2200" spc="-3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5B6D8B"/>
                </a:solidFill>
                <a:latin typeface="Arial"/>
                <a:cs typeface="Arial"/>
              </a:rPr>
              <a:t>Products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Gloves</a:t>
            </a:r>
            <a:r>
              <a:rPr dirty="0" sz="1750" spc="-6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(3.86),</a:t>
            </a:r>
            <a:r>
              <a:rPr dirty="0" sz="1750" spc="-6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Sandals</a:t>
            </a:r>
            <a:r>
              <a:rPr dirty="0" sz="1750" spc="-6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(3.84),</a:t>
            </a:r>
            <a:r>
              <a:rPr dirty="0" sz="1750" spc="-5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Boots</a:t>
            </a:r>
            <a:r>
              <a:rPr dirty="0" sz="1750" spc="-6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B6D8B"/>
                </a:solidFill>
                <a:latin typeface="Arial"/>
                <a:cs typeface="Arial"/>
              </a:rPr>
              <a:t>(3.82)</a:t>
            </a:r>
            <a:endParaRPr sz="175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778549" y="3940009"/>
            <a:ext cx="7586980" cy="1398905"/>
            <a:chOff x="778549" y="3940009"/>
            <a:chExt cx="7586980" cy="1398905"/>
          </a:xfrm>
        </p:grpSpPr>
        <p:sp>
          <p:nvSpPr>
            <p:cNvPr id="10" name="object 10" descr=""/>
            <p:cNvSpPr/>
            <p:nvPr/>
          </p:nvSpPr>
          <p:spPr>
            <a:xfrm>
              <a:off x="793789" y="3955249"/>
              <a:ext cx="7556500" cy="1368425"/>
            </a:xfrm>
            <a:custGeom>
              <a:avLst/>
              <a:gdLst/>
              <a:ahLst/>
              <a:cxnLst/>
              <a:rect l="l" t="t" r="r" b="b"/>
              <a:pathLst>
                <a:path w="7556500" h="1368425">
                  <a:moveTo>
                    <a:pt x="0" y="340232"/>
                  </a:moveTo>
                  <a:lnTo>
                    <a:pt x="3130" y="294331"/>
                  </a:lnTo>
                  <a:lnTo>
                    <a:pt x="12241" y="250225"/>
                  </a:lnTo>
                  <a:lnTo>
                    <a:pt x="26914" y="208333"/>
                  </a:lnTo>
                  <a:lnTo>
                    <a:pt x="46732" y="169073"/>
                  </a:lnTo>
                  <a:lnTo>
                    <a:pt x="71275" y="132865"/>
                  </a:lnTo>
                  <a:lnTo>
                    <a:pt x="100126" y="100126"/>
                  </a:lnTo>
                  <a:lnTo>
                    <a:pt x="132865" y="71276"/>
                  </a:lnTo>
                  <a:lnTo>
                    <a:pt x="169074" y="46733"/>
                  </a:lnTo>
                  <a:lnTo>
                    <a:pt x="208334" y="26915"/>
                  </a:lnTo>
                  <a:lnTo>
                    <a:pt x="250228" y="12241"/>
                  </a:lnTo>
                  <a:lnTo>
                    <a:pt x="294336" y="3130"/>
                  </a:lnTo>
                  <a:lnTo>
                    <a:pt x="340240" y="0"/>
                  </a:lnTo>
                  <a:lnTo>
                    <a:pt x="7216178" y="0"/>
                  </a:lnTo>
                  <a:lnTo>
                    <a:pt x="7262082" y="3130"/>
                  </a:lnTo>
                  <a:lnTo>
                    <a:pt x="7306191" y="12241"/>
                  </a:lnTo>
                  <a:lnTo>
                    <a:pt x="7348085" y="26915"/>
                  </a:lnTo>
                  <a:lnTo>
                    <a:pt x="7387346" y="46733"/>
                  </a:lnTo>
                  <a:lnTo>
                    <a:pt x="7423555" y="71276"/>
                  </a:lnTo>
                  <a:lnTo>
                    <a:pt x="7456295" y="100126"/>
                  </a:lnTo>
                  <a:lnTo>
                    <a:pt x="7485146" y="132865"/>
                  </a:lnTo>
                  <a:lnTo>
                    <a:pt x="7509690" y="169073"/>
                  </a:lnTo>
                  <a:lnTo>
                    <a:pt x="7529508" y="208333"/>
                  </a:lnTo>
                  <a:lnTo>
                    <a:pt x="7544182" y="250225"/>
                  </a:lnTo>
                  <a:lnTo>
                    <a:pt x="7553293" y="294331"/>
                  </a:lnTo>
                  <a:lnTo>
                    <a:pt x="7556423" y="340232"/>
                  </a:lnTo>
                  <a:lnTo>
                    <a:pt x="7556423" y="1027671"/>
                  </a:lnTo>
                  <a:lnTo>
                    <a:pt x="7553293" y="1073575"/>
                  </a:lnTo>
                  <a:lnTo>
                    <a:pt x="7544182" y="1117683"/>
                  </a:lnTo>
                  <a:lnTo>
                    <a:pt x="7529508" y="1159576"/>
                  </a:lnTo>
                  <a:lnTo>
                    <a:pt x="7509690" y="1198836"/>
                  </a:lnTo>
                  <a:lnTo>
                    <a:pt x="7485146" y="1235044"/>
                  </a:lnTo>
                  <a:lnTo>
                    <a:pt x="7456295" y="1267782"/>
                  </a:lnTo>
                  <a:lnTo>
                    <a:pt x="7423555" y="1296631"/>
                  </a:lnTo>
                  <a:lnTo>
                    <a:pt x="7387346" y="1321173"/>
                  </a:lnTo>
                  <a:lnTo>
                    <a:pt x="7348085" y="1340990"/>
                  </a:lnTo>
                  <a:lnTo>
                    <a:pt x="7306191" y="1355663"/>
                  </a:lnTo>
                  <a:lnTo>
                    <a:pt x="7262082" y="1364774"/>
                  </a:lnTo>
                  <a:lnTo>
                    <a:pt x="7216178" y="1367904"/>
                  </a:lnTo>
                  <a:lnTo>
                    <a:pt x="340240" y="1367904"/>
                  </a:lnTo>
                  <a:lnTo>
                    <a:pt x="294336" y="1364774"/>
                  </a:lnTo>
                  <a:lnTo>
                    <a:pt x="250228" y="1355663"/>
                  </a:lnTo>
                  <a:lnTo>
                    <a:pt x="208334" y="1340990"/>
                  </a:lnTo>
                  <a:lnTo>
                    <a:pt x="169074" y="1321173"/>
                  </a:lnTo>
                  <a:lnTo>
                    <a:pt x="132865" y="1296631"/>
                  </a:lnTo>
                  <a:lnTo>
                    <a:pt x="100126" y="1267782"/>
                  </a:lnTo>
                  <a:lnTo>
                    <a:pt x="71275" y="1235044"/>
                  </a:lnTo>
                  <a:lnTo>
                    <a:pt x="46732" y="1198836"/>
                  </a:lnTo>
                  <a:lnTo>
                    <a:pt x="26914" y="1159576"/>
                  </a:lnTo>
                  <a:lnTo>
                    <a:pt x="12241" y="1117683"/>
                  </a:lnTo>
                  <a:lnTo>
                    <a:pt x="3130" y="1073575"/>
                  </a:lnTo>
                  <a:lnTo>
                    <a:pt x="0" y="1027671"/>
                  </a:lnTo>
                  <a:lnTo>
                    <a:pt x="0" y="340232"/>
                  </a:lnTo>
                  <a:close/>
                </a:path>
              </a:pathLst>
            </a:custGeom>
            <a:ln w="30479">
              <a:solidFill>
                <a:srgbClr val="B3D4E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824269" y="3985729"/>
              <a:ext cx="907415" cy="1307465"/>
            </a:xfrm>
            <a:custGeom>
              <a:avLst/>
              <a:gdLst/>
              <a:ahLst/>
              <a:cxnLst/>
              <a:rect l="l" t="t" r="r" b="b"/>
              <a:pathLst>
                <a:path w="907414" h="1307464">
                  <a:moveTo>
                    <a:pt x="603587" y="0"/>
                  </a:moveTo>
                  <a:lnTo>
                    <a:pt x="303667" y="0"/>
                  </a:lnTo>
                  <a:lnTo>
                    <a:pt x="254683" y="4004"/>
                  </a:lnTo>
                  <a:lnTo>
                    <a:pt x="208116" y="15589"/>
                  </a:lnTo>
                  <a:lnTo>
                    <a:pt x="164610" y="34107"/>
                  </a:lnTo>
                  <a:lnTo>
                    <a:pt x="124810" y="58914"/>
                  </a:lnTo>
                  <a:lnTo>
                    <a:pt x="89363" y="89365"/>
                  </a:lnTo>
                  <a:lnTo>
                    <a:pt x="58913" y="124812"/>
                  </a:lnTo>
                  <a:lnTo>
                    <a:pt x="34107" y="164612"/>
                  </a:lnTo>
                  <a:lnTo>
                    <a:pt x="15589" y="208119"/>
                  </a:lnTo>
                  <a:lnTo>
                    <a:pt x="4004" y="254686"/>
                  </a:lnTo>
                  <a:lnTo>
                    <a:pt x="0" y="303669"/>
                  </a:lnTo>
                  <a:lnTo>
                    <a:pt x="0" y="1003287"/>
                  </a:lnTo>
                  <a:lnTo>
                    <a:pt x="4004" y="1052270"/>
                  </a:lnTo>
                  <a:lnTo>
                    <a:pt x="15589" y="1098836"/>
                  </a:lnTo>
                  <a:lnTo>
                    <a:pt x="34107" y="1142341"/>
                  </a:lnTo>
                  <a:lnTo>
                    <a:pt x="58913" y="1182139"/>
                  </a:lnTo>
                  <a:lnTo>
                    <a:pt x="89363" y="1217585"/>
                  </a:lnTo>
                  <a:lnTo>
                    <a:pt x="124810" y="1248033"/>
                  </a:lnTo>
                  <a:lnTo>
                    <a:pt x="164610" y="1272839"/>
                  </a:lnTo>
                  <a:lnTo>
                    <a:pt x="208116" y="1291356"/>
                  </a:lnTo>
                  <a:lnTo>
                    <a:pt x="254683" y="1302939"/>
                  </a:lnTo>
                  <a:lnTo>
                    <a:pt x="303667" y="1306944"/>
                  </a:lnTo>
                  <a:lnTo>
                    <a:pt x="603587" y="1306944"/>
                  </a:lnTo>
                  <a:lnTo>
                    <a:pt x="652571" y="1302939"/>
                  </a:lnTo>
                  <a:lnTo>
                    <a:pt x="699138" y="1291356"/>
                  </a:lnTo>
                  <a:lnTo>
                    <a:pt x="742645" y="1272839"/>
                  </a:lnTo>
                  <a:lnTo>
                    <a:pt x="782444" y="1248033"/>
                  </a:lnTo>
                  <a:lnTo>
                    <a:pt x="817892" y="1217585"/>
                  </a:lnTo>
                  <a:lnTo>
                    <a:pt x="848342" y="1182139"/>
                  </a:lnTo>
                  <a:lnTo>
                    <a:pt x="873148" y="1142341"/>
                  </a:lnTo>
                  <a:lnTo>
                    <a:pt x="891667" y="1098836"/>
                  </a:lnTo>
                  <a:lnTo>
                    <a:pt x="903251" y="1052270"/>
                  </a:lnTo>
                  <a:lnTo>
                    <a:pt x="907256" y="1003287"/>
                  </a:lnTo>
                  <a:lnTo>
                    <a:pt x="907256" y="303669"/>
                  </a:lnTo>
                  <a:lnTo>
                    <a:pt x="903251" y="254686"/>
                  </a:lnTo>
                  <a:lnTo>
                    <a:pt x="891667" y="208119"/>
                  </a:lnTo>
                  <a:lnTo>
                    <a:pt x="873148" y="164612"/>
                  </a:lnTo>
                  <a:lnTo>
                    <a:pt x="848342" y="124812"/>
                  </a:lnTo>
                  <a:lnTo>
                    <a:pt x="817892" y="89365"/>
                  </a:lnTo>
                  <a:lnTo>
                    <a:pt x="782444" y="58914"/>
                  </a:lnTo>
                  <a:lnTo>
                    <a:pt x="742645" y="34107"/>
                  </a:lnTo>
                  <a:lnTo>
                    <a:pt x="699138" y="15589"/>
                  </a:lnTo>
                  <a:lnTo>
                    <a:pt x="652571" y="4004"/>
                  </a:lnTo>
                  <a:lnTo>
                    <a:pt x="603587" y="0"/>
                  </a:lnTo>
                  <a:close/>
                </a:path>
              </a:pathLst>
            </a:custGeom>
            <a:solidFill>
              <a:srgbClr val="E6F7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1091247" y="4351782"/>
            <a:ext cx="212725" cy="429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 spc="-50">
                <a:latin typeface="Arial"/>
                <a:cs typeface="Arial"/>
              </a:rPr>
              <a:t>2</a:t>
            </a:r>
            <a:endParaRPr sz="265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945639" y="4207916"/>
            <a:ext cx="4605020" cy="865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20">
                <a:solidFill>
                  <a:srgbClr val="5B6D8B"/>
                </a:solidFill>
                <a:latin typeface="Arial"/>
                <a:cs typeface="Arial"/>
              </a:rPr>
              <a:t>Discount-</a:t>
            </a:r>
            <a:r>
              <a:rPr dirty="0" sz="2200">
                <a:solidFill>
                  <a:srgbClr val="5B6D8B"/>
                </a:solidFill>
                <a:latin typeface="Arial"/>
                <a:cs typeface="Arial"/>
              </a:rPr>
              <a:t>Heavy</a:t>
            </a:r>
            <a:r>
              <a:rPr dirty="0" sz="2200" spc="-1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5B6D8B"/>
                </a:solidFill>
                <a:latin typeface="Arial"/>
                <a:cs typeface="Arial"/>
              </a:rPr>
              <a:t>Items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Hat</a:t>
            </a:r>
            <a:r>
              <a:rPr dirty="0" sz="1750" spc="-7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(50%),</a:t>
            </a:r>
            <a:r>
              <a:rPr dirty="0" sz="1750" spc="-7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Sneakers</a:t>
            </a:r>
            <a:r>
              <a:rPr dirty="0" sz="1750" spc="-6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(49.66%),</a:t>
            </a:r>
            <a:r>
              <a:rPr dirty="0" sz="1750" spc="-7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Coat</a:t>
            </a:r>
            <a:r>
              <a:rPr dirty="0" sz="1750" spc="-6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B6D8B"/>
                </a:solidFill>
                <a:latin typeface="Arial"/>
                <a:cs typeface="Arial"/>
              </a:rPr>
              <a:t>(49.07%)</a:t>
            </a:r>
            <a:endParaRPr sz="1750">
              <a:latin typeface="Arial"/>
              <a:cs typeface="Arial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778549" y="5534736"/>
            <a:ext cx="7586980" cy="1398905"/>
            <a:chOff x="778549" y="5534736"/>
            <a:chExt cx="7586980" cy="1398905"/>
          </a:xfrm>
        </p:grpSpPr>
        <p:sp>
          <p:nvSpPr>
            <p:cNvPr id="15" name="object 15" descr=""/>
            <p:cNvSpPr/>
            <p:nvPr/>
          </p:nvSpPr>
          <p:spPr>
            <a:xfrm>
              <a:off x="793789" y="5549976"/>
              <a:ext cx="7556500" cy="1368425"/>
            </a:xfrm>
            <a:custGeom>
              <a:avLst/>
              <a:gdLst/>
              <a:ahLst/>
              <a:cxnLst/>
              <a:rect l="l" t="t" r="r" b="b"/>
              <a:pathLst>
                <a:path w="7556500" h="1368425">
                  <a:moveTo>
                    <a:pt x="0" y="340232"/>
                  </a:moveTo>
                  <a:lnTo>
                    <a:pt x="3130" y="294331"/>
                  </a:lnTo>
                  <a:lnTo>
                    <a:pt x="12241" y="250225"/>
                  </a:lnTo>
                  <a:lnTo>
                    <a:pt x="26914" y="208333"/>
                  </a:lnTo>
                  <a:lnTo>
                    <a:pt x="46732" y="169073"/>
                  </a:lnTo>
                  <a:lnTo>
                    <a:pt x="71275" y="132865"/>
                  </a:lnTo>
                  <a:lnTo>
                    <a:pt x="100126" y="100126"/>
                  </a:lnTo>
                  <a:lnTo>
                    <a:pt x="132865" y="71276"/>
                  </a:lnTo>
                  <a:lnTo>
                    <a:pt x="169074" y="46733"/>
                  </a:lnTo>
                  <a:lnTo>
                    <a:pt x="208334" y="26915"/>
                  </a:lnTo>
                  <a:lnTo>
                    <a:pt x="250228" y="12241"/>
                  </a:lnTo>
                  <a:lnTo>
                    <a:pt x="294336" y="3130"/>
                  </a:lnTo>
                  <a:lnTo>
                    <a:pt x="340240" y="0"/>
                  </a:lnTo>
                  <a:lnTo>
                    <a:pt x="7216178" y="0"/>
                  </a:lnTo>
                  <a:lnTo>
                    <a:pt x="7262082" y="3130"/>
                  </a:lnTo>
                  <a:lnTo>
                    <a:pt x="7306191" y="12241"/>
                  </a:lnTo>
                  <a:lnTo>
                    <a:pt x="7348085" y="26915"/>
                  </a:lnTo>
                  <a:lnTo>
                    <a:pt x="7387346" y="46733"/>
                  </a:lnTo>
                  <a:lnTo>
                    <a:pt x="7423555" y="71276"/>
                  </a:lnTo>
                  <a:lnTo>
                    <a:pt x="7456295" y="100126"/>
                  </a:lnTo>
                  <a:lnTo>
                    <a:pt x="7485146" y="132865"/>
                  </a:lnTo>
                  <a:lnTo>
                    <a:pt x="7509690" y="169073"/>
                  </a:lnTo>
                  <a:lnTo>
                    <a:pt x="7529508" y="208333"/>
                  </a:lnTo>
                  <a:lnTo>
                    <a:pt x="7544182" y="250225"/>
                  </a:lnTo>
                  <a:lnTo>
                    <a:pt x="7553293" y="294331"/>
                  </a:lnTo>
                  <a:lnTo>
                    <a:pt x="7556423" y="340232"/>
                  </a:lnTo>
                  <a:lnTo>
                    <a:pt x="7556423" y="1027671"/>
                  </a:lnTo>
                  <a:lnTo>
                    <a:pt x="7553293" y="1073575"/>
                  </a:lnTo>
                  <a:lnTo>
                    <a:pt x="7544182" y="1117683"/>
                  </a:lnTo>
                  <a:lnTo>
                    <a:pt x="7529508" y="1159576"/>
                  </a:lnTo>
                  <a:lnTo>
                    <a:pt x="7509690" y="1198836"/>
                  </a:lnTo>
                  <a:lnTo>
                    <a:pt x="7485146" y="1235044"/>
                  </a:lnTo>
                  <a:lnTo>
                    <a:pt x="7456295" y="1267782"/>
                  </a:lnTo>
                  <a:lnTo>
                    <a:pt x="7423555" y="1296631"/>
                  </a:lnTo>
                  <a:lnTo>
                    <a:pt x="7387346" y="1321173"/>
                  </a:lnTo>
                  <a:lnTo>
                    <a:pt x="7348085" y="1340990"/>
                  </a:lnTo>
                  <a:lnTo>
                    <a:pt x="7306191" y="1355663"/>
                  </a:lnTo>
                  <a:lnTo>
                    <a:pt x="7262082" y="1364774"/>
                  </a:lnTo>
                  <a:lnTo>
                    <a:pt x="7216178" y="1367904"/>
                  </a:lnTo>
                  <a:lnTo>
                    <a:pt x="340240" y="1367904"/>
                  </a:lnTo>
                  <a:lnTo>
                    <a:pt x="294336" y="1364774"/>
                  </a:lnTo>
                  <a:lnTo>
                    <a:pt x="250228" y="1355663"/>
                  </a:lnTo>
                  <a:lnTo>
                    <a:pt x="208334" y="1340990"/>
                  </a:lnTo>
                  <a:lnTo>
                    <a:pt x="169074" y="1321173"/>
                  </a:lnTo>
                  <a:lnTo>
                    <a:pt x="132865" y="1296631"/>
                  </a:lnTo>
                  <a:lnTo>
                    <a:pt x="100126" y="1267782"/>
                  </a:lnTo>
                  <a:lnTo>
                    <a:pt x="71275" y="1235044"/>
                  </a:lnTo>
                  <a:lnTo>
                    <a:pt x="46732" y="1198836"/>
                  </a:lnTo>
                  <a:lnTo>
                    <a:pt x="26914" y="1159576"/>
                  </a:lnTo>
                  <a:lnTo>
                    <a:pt x="12241" y="1117683"/>
                  </a:lnTo>
                  <a:lnTo>
                    <a:pt x="3130" y="1073575"/>
                  </a:lnTo>
                  <a:lnTo>
                    <a:pt x="0" y="1027671"/>
                  </a:lnTo>
                  <a:lnTo>
                    <a:pt x="0" y="340232"/>
                  </a:lnTo>
                  <a:close/>
                </a:path>
              </a:pathLst>
            </a:custGeom>
            <a:ln w="30479">
              <a:solidFill>
                <a:srgbClr val="B3D4E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824269" y="5580456"/>
              <a:ext cx="907415" cy="1307465"/>
            </a:xfrm>
            <a:custGeom>
              <a:avLst/>
              <a:gdLst/>
              <a:ahLst/>
              <a:cxnLst/>
              <a:rect l="l" t="t" r="r" b="b"/>
              <a:pathLst>
                <a:path w="907414" h="1307465">
                  <a:moveTo>
                    <a:pt x="603587" y="0"/>
                  </a:moveTo>
                  <a:lnTo>
                    <a:pt x="303667" y="0"/>
                  </a:lnTo>
                  <a:lnTo>
                    <a:pt x="254683" y="4004"/>
                  </a:lnTo>
                  <a:lnTo>
                    <a:pt x="208116" y="15589"/>
                  </a:lnTo>
                  <a:lnTo>
                    <a:pt x="164610" y="34107"/>
                  </a:lnTo>
                  <a:lnTo>
                    <a:pt x="124810" y="58914"/>
                  </a:lnTo>
                  <a:lnTo>
                    <a:pt x="89363" y="89365"/>
                  </a:lnTo>
                  <a:lnTo>
                    <a:pt x="58913" y="124812"/>
                  </a:lnTo>
                  <a:lnTo>
                    <a:pt x="34107" y="164612"/>
                  </a:lnTo>
                  <a:lnTo>
                    <a:pt x="15589" y="208119"/>
                  </a:lnTo>
                  <a:lnTo>
                    <a:pt x="4004" y="254686"/>
                  </a:lnTo>
                  <a:lnTo>
                    <a:pt x="0" y="303669"/>
                  </a:lnTo>
                  <a:lnTo>
                    <a:pt x="0" y="1003287"/>
                  </a:lnTo>
                  <a:lnTo>
                    <a:pt x="4004" y="1052270"/>
                  </a:lnTo>
                  <a:lnTo>
                    <a:pt x="15589" y="1098836"/>
                  </a:lnTo>
                  <a:lnTo>
                    <a:pt x="34107" y="1142341"/>
                  </a:lnTo>
                  <a:lnTo>
                    <a:pt x="58913" y="1182139"/>
                  </a:lnTo>
                  <a:lnTo>
                    <a:pt x="89363" y="1217585"/>
                  </a:lnTo>
                  <a:lnTo>
                    <a:pt x="124810" y="1248033"/>
                  </a:lnTo>
                  <a:lnTo>
                    <a:pt x="164610" y="1272839"/>
                  </a:lnTo>
                  <a:lnTo>
                    <a:pt x="208116" y="1291356"/>
                  </a:lnTo>
                  <a:lnTo>
                    <a:pt x="254683" y="1302939"/>
                  </a:lnTo>
                  <a:lnTo>
                    <a:pt x="303667" y="1306944"/>
                  </a:lnTo>
                  <a:lnTo>
                    <a:pt x="603587" y="1306944"/>
                  </a:lnTo>
                  <a:lnTo>
                    <a:pt x="652571" y="1302939"/>
                  </a:lnTo>
                  <a:lnTo>
                    <a:pt x="699138" y="1291356"/>
                  </a:lnTo>
                  <a:lnTo>
                    <a:pt x="742645" y="1272839"/>
                  </a:lnTo>
                  <a:lnTo>
                    <a:pt x="782444" y="1248033"/>
                  </a:lnTo>
                  <a:lnTo>
                    <a:pt x="817892" y="1217585"/>
                  </a:lnTo>
                  <a:lnTo>
                    <a:pt x="848342" y="1182139"/>
                  </a:lnTo>
                  <a:lnTo>
                    <a:pt x="873148" y="1142341"/>
                  </a:lnTo>
                  <a:lnTo>
                    <a:pt x="891667" y="1098836"/>
                  </a:lnTo>
                  <a:lnTo>
                    <a:pt x="903251" y="1052270"/>
                  </a:lnTo>
                  <a:lnTo>
                    <a:pt x="907256" y="1003287"/>
                  </a:lnTo>
                  <a:lnTo>
                    <a:pt x="907256" y="303669"/>
                  </a:lnTo>
                  <a:lnTo>
                    <a:pt x="903251" y="254686"/>
                  </a:lnTo>
                  <a:lnTo>
                    <a:pt x="891667" y="208119"/>
                  </a:lnTo>
                  <a:lnTo>
                    <a:pt x="873148" y="164612"/>
                  </a:lnTo>
                  <a:lnTo>
                    <a:pt x="848342" y="124812"/>
                  </a:lnTo>
                  <a:lnTo>
                    <a:pt x="817892" y="89365"/>
                  </a:lnTo>
                  <a:lnTo>
                    <a:pt x="782444" y="58914"/>
                  </a:lnTo>
                  <a:lnTo>
                    <a:pt x="742645" y="34107"/>
                  </a:lnTo>
                  <a:lnTo>
                    <a:pt x="699138" y="15589"/>
                  </a:lnTo>
                  <a:lnTo>
                    <a:pt x="652571" y="4004"/>
                  </a:lnTo>
                  <a:lnTo>
                    <a:pt x="603587" y="0"/>
                  </a:lnTo>
                  <a:close/>
                </a:path>
              </a:pathLst>
            </a:custGeom>
            <a:solidFill>
              <a:srgbClr val="E6F7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1091247" y="5946508"/>
            <a:ext cx="212725" cy="429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 spc="-50">
                <a:latin typeface="Arial"/>
                <a:cs typeface="Arial"/>
              </a:rPr>
              <a:t>3</a:t>
            </a:r>
            <a:endParaRPr sz="265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945639" y="5802642"/>
            <a:ext cx="3606800" cy="865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0">
                <a:solidFill>
                  <a:srgbClr val="5B6D8B"/>
                </a:solidFill>
                <a:latin typeface="Arial"/>
                <a:cs typeface="Arial"/>
              </a:rPr>
              <a:t>Best-</a:t>
            </a:r>
            <a:r>
              <a:rPr dirty="0" sz="2200">
                <a:solidFill>
                  <a:srgbClr val="5B6D8B"/>
                </a:solidFill>
                <a:latin typeface="Arial"/>
                <a:cs typeface="Arial"/>
              </a:rPr>
              <a:t>Selling</a:t>
            </a:r>
            <a:r>
              <a:rPr dirty="0" sz="2200" spc="-5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5B6D8B"/>
                </a:solidFill>
                <a:latin typeface="Arial"/>
                <a:cs typeface="Arial"/>
              </a:rPr>
              <a:t>by</a:t>
            </a:r>
            <a:r>
              <a:rPr dirty="0" sz="2200" spc="-4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5B6D8B"/>
                </a:solidFill>
                <a:latin typeface="Arial"/>
                <a:cs typeface="Arial"/>
              </a:rPr>
              <a:t>Category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Clothing:</a:t>
            </a:r>
            <a:r>
              <a:rPr dirty="0" sz="1750" spc="-5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Blouse</a:t>
            </a:r>
            <a:r>
              <a:rPr dirty="0" sz="1750" spc="-5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&amp;</a:t>
            </a:r>
            <a:r>
              <a:rPr dirty="0" sz="1750" spc="-5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Pants</a:t>
            </a:r>
            <a:r>
              <a:rPr dirty="0" sz="1750" spc="-5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(171</a:t>
            </a:r>
            <a:r>
              <a:rPr dirty="0" sz="1750" spc="-5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B6D8B"/>
                </a:solidFill>
                <a:latin typeface="Arial"/>
                <a:cs typeface="Arial"/>
              </a:rPr>
              <a:t>each)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39192" y="7749540"/>
            <a:ext cx="1722602" cy="41147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97031" y="679640"/>
            <a:ext cx="7688580" cy="6273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08935" algn="l"/>
                <a:tab pos="3383279" algn="l"/>
                <a:tab pos="5695315" algn="l"/>
              </a:tabLst>
            </a:pPr>
            <a:r>
              <a:rPr dirty="0" sz="3950" spc="-10"/>
              <a:t>Subscription</a:t>
            </a:r>
            <a:r>
              <a:rPr dirty="0" sz="3950"/>
              <a:t>	</a:t>
            </a:r>
            <a:r>
              <a:rPr dirty="0" sz="3950" spc="-50"/>
              <a:t>&amp;</a:t>
            </a:r>
            <a:r>
              <a:rPr dirty="0" sz="3950"/>
              <a:t>	</a:t>
            </a:r>
            <a:r>
              <a:rPr dirty="0" sz="3950" spc="-10"/>
              <a:t>Customer</a:t>
            </a:r>
            <a:r>
              <a:rPr dirty="0" sz="3950"/>
              <a:t>	</a:t>
            </a:r>
            <a:r>
              <a:rPr dirty="0" sz="3950" spc="-10"/>
              <a:t>Behavior</a:t>
            </a:r>
            <a:endParaRPr sz="3950"/>
          </a:p>
        </p:txBody>
      </p:sp>
      <p:sp>
        <p:nvSpPr>
          <p:cNvPr id="4" name="object 4" descr=""/>
          <p:cNvSpPr txBox="1"/>
          <p:nvPr/>
        </p:nvSpPr>
        <p:spPr>
          <a:xfrm>
            <a:off x="2321353" y="2885351"/>
            <a:ext cx="1029335" cy="627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50" spc="-25">
                <a:solidFill>
                  <a:srgbClr val="5B6D8B"/>
                </a:solidFill>
                <a:latin typeface="Arial"/>
                <a:cs typeface="Arial"/>
              </a:rPr>
              <a:t>27%</a:t>
            </a:r>
            <a:endParaRPr sz="395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5046" y="1723072"/>
            <a:ext cx="3041815" cy="3041802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592571" y="4992738"/>
            <a:ext cx="2486660" cy="742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0"/>
              </a:spcBef>
            </a:pPr>
            <a:r>
              <a:rPr dirty="0" sz="1950" spc="-10">
                <a:solidFill>
                  <a:srgbClr val="5B6D8B"/>
                </a:solidFill>
                <a:latin typeface="Arial"/>
                <a:cs typeface="Arial"/>
              </a:rPr>
              <a:t>Subscribers</a:t>
            </a:r>
            <a:endParaRPr sz="19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445"/>
              </a:spcBef>
            </a:pPr>
            <a:r>
              <a:rPr dirty="0" sz="1550">
                <a:solidFill>
                  <a:srgbClr val="5B6D8B"/>
                </a:solidFill>
                <a:latin typeface="Arial"/>
                <a:cs typeface="Arial"/>
              </a:rPr>
              <a:t>1,053</a:t>
            </a:r>
            <a:r>
              <a:rPr dirty="0" sz="1550" spc="-3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5B6D8B"/>
                </a:solidFill>
                <a:latin typeface="Arial"/>
                <a:cs typeface="Arial"/>
              </a:rPr>
              <a:t>customers</a:t>
            </a:r>
            <a:r>
              <a:rPr dirty="0" sz="1550" spc="-3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5B6D8B"/>
                </a:solidFill>
                <a:latin typeface="Arial"/>
                <a:cs typeface="Arial"/>
              </a:rPr>
              <a:t>subscribed</a:t>
            </a:r>
            <a:endParaRPr sz="155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800477" y="2885351"/>
            <a:ext cx="1029335" cy="627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50" spc="-25">
                <a:solidFill>
                  <a:srgbClr val="5B6D8B"/>
                </a:solidFill>
                <a:latin typeface="Arial"/>
                <a:cs typeface="Arial"/>
              </a:rPr>
              <a:t>80%</a:t>
            </a:r>
            <a:endParaRPr sz="3950">
              <a:latin typeface="Arial"/>
              <a:cs typeface="Arial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94171" y="1723072"/>
            <a:ext cx="3041815" cy="3041802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6317764" y="4992738"/>
            <a:ext cx="1993900" cy="742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7945">
              <a:lnSpc>
                <a:spcPct val="100000"/>
              </a:lnSpc>
              <a:spcBef>
                <a:spcPts val="100"/>
              </a:spcBef>
            </a:pPr>
            <a:r>
              <a:rPr dirty="0" sz="1950">
                <a:solidFill>
                  <a:srgbClr val="5B6D8B"/>
                </a:solidFill>
                <a:latin typeface="Arial"/>
                <a:cs typeface="Arial"/>
              </a:rPr>
              <a:t>Loyal</a:t>
            </a:r>
            <a:r>
              <a:rPr dirty="0" sz="1950" spc="-7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950" spc="-10">
                <a:solidFill>
                  <a:srgbClr val="5B6D8B"/>
                </a:solidFill>
                <a:latin typeface="Arial"/>
                <a:cs typeface="Arial"/>
              </a:rPr>
              <a:t>Customers</a:t>
            </a:r>
            <a:endParaRPr sz="1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dirty="0" sz="1550">
                <a:solidFill>
                  <a:srgbClr val="5B6D8B"/>
                </a:solidFill>
                <a:latin typeface="Arial"/>
                <a:cs typeface="Arial"/>
              </a:rPr>
              <a:t>3,116</a:t>
            </a:r>
            <a:r>
              <a:rPr dirty="0" sz="1550" spc="-4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5B6D8B"/>
                </a:solidFill>
                <a:latin typeface="Arial"/>
                <a:cs typeface="Arial"/>
              </a:rPr>
              <a:t>in</a:t>
            </a:r>
            <a:r>
              <a:rPr dirty="0" sz="1550" spc="-3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5B6D8B"/>
                </a:solidFill>
                <a:latin typeface="Arial"/>
                <a:cs typeface="Arial"/>
              </a:rPr>
              <a:t>loyal</a:t>
            </a:r>
            <a:r>
              <a:rPr dirty="0" sz="1550" spc="-3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5B6D8B"/>
                </a:solidFill>
                <a:latin typeface="Arial"/>
                <a:cs typeface="Arial"/>
              </a:rPr>
              <a:t>segment</a:t>
            </a:r>
            <a:endParaRPr sz="155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1279730" y="2885351"/>
            <a:ext cx="1029335" cy="627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50" spc="-25">
                <a:solidFill>
                  <a:srgbClr val="5B6D8B"/>
                </a:solidFill>
                <a:latin typeface="Arial"/>
                <a:cs typeface="Arial"/>
              </a:rPr>
              <a:t>25%</a:t>
            </a:r>
            <a:endParaRPr sz="3950">
              <a:latin typeface="Arial"/>
              <a:cs typeface="Arial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273424" y="1723072"/>
            <a:ext cx="3041815" cy="3041802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10720487" y="4992738"/>
            <a:ext cx="2147570" cy="742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6839">
              <a:lnSpc>
                <a:spcPct val="100000"/>
              </a:lnSpc>
              <a:spcBef>
                <a:spcPts val="100"/>
              </a:spcBef>
            </a:pPr>
            <a:r>
              <a:rPr dirty="0" sz="1950">
                <a:solidFill>
                  <a:srgbClr val="5B6D8B"/>
                </a:solidFill>
                <a:latin typeface="Arial"/>
                <a:cs typeface="Arial"/>
              </a:rPr>
              <a:t>Returning</a:t>
            </a:r>
            <a:r>
              <a:rPr dirty="0" sz="1950" spc="-12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950" spc="-10">
                <a:solidFill>
                  <a:srgbClr val="5B6D8B"/>
                </a:solidFill>
                <a:latin typeface="Arial"/>
                <a:cs typeface="Arial"/>
              </a:rPr>
              <a:t>Buyers</a:t>
            </a:r>
            <a:endParaRPr sz="1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dirty="0" sz="1550">
                <a:solidFill>
                  <a:srgbClr val="5B6D8B"/>
                </a:solidFill>
                <a:latin typeface="Arial"/>
                <a:cs typeface="Arial"/>
              </a:rPr>
              <a:t>701</a:t>
            </a:r>
            <a:r>
              <a:rPr dirty="0" sz="1550" spc="-3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5B6D8B"/>
                </a:solidFill>
                <a:latin typeface="Arial"/>
                <a:cs typeface="Arial"/>
              </a:rPr>
              <a:t>customers</a:t>
            </a:r>
            <a:r>
              <a:rPr dirty="0" sz="1550" spc="-2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5B6D8B"/>
                </a:solidFill>
                <a:latin typeface="Arial"/>
                <a:cs typeface="Arial"/>
              </a:rPr>
              <a:t>returning</a:t>
            </a:r>
            <a:endParaRPr sz="155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97031" y="6110617"/>
            <a:ext cx="2446655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-10">
                <a:solidFill>
                  <a:srgbClr val="5B6D8B"/>
                </a:solidFill>
                <a:latin typeface="Arial"/>
                <a:cs typeface="Arial"/>
              </a:rPr>
              <a:t>Subscription</a:t>
            </a:r>
            <a:r>
              <a:rPr dirty="0" sz="1950" spc="-2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950" spc="-10">
                <a:solidFill>
                  <a:srgbClr val="5B6D8B"/>
                </a:solidFill>
                <a:latin typeface="Arial"/>
                <a:cs typeface="Arial"/>
              </a:rPr>
              <a:t>Revenue</a:t>
            </a:r>
            <a:endParaRPr sz="195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97031" y="6664325"/>
            <a:ext cx="2310130" cy="261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>
                <a:solidFill>
                  <a:srgbClr val="5B6D8B"/>
                </a:solidFill>
                <a:latin typeface="Arial"/>
                <a:cs typeface="Arial"/>
              </a:rPr>
              <a:t>Subscribers:</a:t>
            </a:r>
            <a:r>
              <a:rPr dirty="0" sz="1550" spc="-6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5B6D8B"/>
                </a:solidFill>
                <a:latin typeface="Arial"/>
                <a:cs typeface="Arial"/>
              </a:rPr>
              <a:t>$62,645</a:t>
            </a:r>
            <a:r>
              <a:rPr dirty="0" sz="1550" spc="-5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550" spc="-20">
                <a:solidFill>
                  <a:srgbClr val="5B6D8B"/>
                </a:solidFill>
                <a:latin typeface="Arial"/>
                <a:cs typeface="Arial"/>
              </a:rPr>
              <a:t>total</a:t>
            </a:r>
            <a:endParaRPr sz="155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97031" y="7134618"/>
            <a:ext cx="2812415" cy="261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 spc="-10">
                <a:solidFill>
                  <a:srgbClr val="5B6D8B"/>
                </a:solidFill>
                <a:latin typeface="Arial"/>
                <a:cs typeface="Arial"/>
              </a:rPr>
              <a:t>Non-</a:t>
            </a:r>
            <a:r>
              <a:rPr dirty="0" sz="1550">
                <a:solidFill>
                  <a:srgbClr val="5B6D8B"/>
                </a:solidFill>
                <a:latin typeface="Arial"/>
                <a:cs typeface="Arial"/>
              </a:rPr>
              <a:t>subscribers:</a:t>
            </a:r>
            <a:r>
              <a:rPr dirty="0" sz="1550" spc="-5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5B6D8B"/>
                </a:solidFill>
                <a:latin typeface="Arial"/>
                <a:cs typeface="Arial"/>
              </a:rPr>
              <a:t>$170,436</a:t>
            </a:r>
            <a:r>
              <a:rPr dirty="0" sz="1550" spc="-4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550" spc="-20">
                <a:solidFill>
                  <a:srgbClr val="5B6D8B"/>
                </a:solidFill>
                <a:latin typeface="Arial"/>
                <a:cs typeface="Arial"/>
              </a:rPr>
              <a:t>total</a:t>
            </a:r>
            <a:endParaRPr sz="155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557414" y="6110617"/>
            <a:ext cx="2804795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>
                <a:solidFill>
                  <a:srgbClr val="5B6D8B"/>
                </a:solidFill>
                <a:latin typeface="Arial"/>
                <a:cs typeface="Arial"/>
              </a:rPr>
              <a:t>Repeat</a:t>
            </a:r>
            <a:r>
              <a:rPr dirty="0" sz="1950" spc="-9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5B6D8B"/>
                </a:solidFill>
                <a:latin typeface="Arial"/>
                <a:cs typeface="Arial"/>
              </a:rPr>
              <a:t>Purchase</a:t>
            </a:r>
            <a:r>
              <a:rPr dirty="0" sz="1950" spc="-9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950" spc="-10">
                <a:solidFill>
                  <a:srgbClr val="5B6D8B"/>
                </a:solidFill>
                <a:latin typeface="Arial"/>
                <a:cs typeface="Arial"/>
              </a:rPr>
              <a:t>Pattern</a:t>
            </a:r>
            <a:endParaRPr sz="195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7557414" y="6664325"/>
            <a:ext cx="2962910" cy="261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>
                <a:solidFill>
                  <a:srgbClr val="5B6D8B"/>
                </a:solidFill>
                <a:latin typeface="Arial"/>
                <a:cs typeface="Arial"/>
              </a:rPr>
              <a:t>958</a:t>
            </a:r>
            <a:r>
              <a:rPr dirty="0" sz="1550" spc="-2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5B6D8B"/>
                </a:solidFill>
                <a:latin typeface="Arial"/>
                <a:cs typeface="Arial"/>
              </a:rPr>
              <a:t>customers</a:t>
            </a:r>
            <a:r>
              <a:rPr dirty="0" sz="1550" spc="-2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5B6D8B"/>
                </a:solidFill>
                <a:latin typeface="Arial"/>
                <a:cs typeface="Arial"/>
              </a:rPr>
              <a:t>with</a:t>
            </a:r>
            <a:r>
              <a:rPr dirty="0" sz="1550" spc="-2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5B6D8B"/>
                </a:solidFill>
                <a:latin typeface="Arial"/>
                <a:cs typeface="Arial"/>
              </a:rPr>
              <a:t>&gt;5</a:t>
            </a:r>
            <a:r>
              <a:rPr dirty="0" sz="1550" spc="-2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5B6D8B"/>
                </a:solidFill>
                <a:latin typeface="Arial"/>
                <a:cs typeface="Arial"/>
              </a:rPr>
              <a:t>purchases</a:t>
            </a:r>
            <a:endParaRPr sz="155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557414" y="7134618"/>
            <a:ext cx="3119755" cy="261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>
                <a:solidFill>
                  <a:srgbClr val="5B6D8B"/>
                </a:solidFill>
                <a:latin typeface="Arial"/>
                <a:cs typeface="Arial"/>
              </a:rPr>
              <a:t>2,518</a:t>
            </a:r>
            <a:r>
              <a:rPr dirty="0" sz="1550" spc="-3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5B6D8B"/>
                </a:solidFill>
                <a:latin typeface="Arial"/>
                <a:cs typeface="Arial"/>
              </a:rPr>
              <a:t>customers</a:t>
            </a:r>
            <a:r>
              <a:rPr dirty="0" sz="1550" spc="-2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5B6D8B"/>
                </a:solidFill>
                <a:latin typeface="Arial"/>
                <a:cs typeface="Arial"/>
              </a:rPr>
              <a:t>with</a:t>
            </a:r>
            <a:r>
              <a:rPr dirty="0" sz="1550" spc="-2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5B6D8B"/>
                </a:solidFill>
                <a:latin typeface="Arial"/>
                <a:cs typeface="Arial"/>
              </a:rPr>
              <a:t>≤5</a:t>
            </a:r>
            <a:r>
              <a:rPr dirty="0" sz="1550" spc="-2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5B6D8B"/>
                </a:solidFill>
                <a:latin typeface="Arial"/>
                <a:cs typeface="Arial"/>
              </a:rPr>
              <a:t>purchases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089" y="1744738"/>
            <a:ext cx="5239385" cy="7035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71014" algn="l"/>
                <a:tab pos="2461895" algn="l"/>
              </a:tabLst>
            </a:pPr>
            <a:r>
              <a:rPr dirty="0" spc="-10"/>
              <a:t>Power</a:t>
            </a:r>
            <a:r>
              <a:rPr dirty="0"/>
              <a:t>	</a:t>
            </a:r>
            <a:r>
              <a:rPr dirty="0" spc="-25"/>
              <a:t>BI</a:t>
            </a:r>
            <a:r>
              <a:rPr dirty="0"/>
              <a:t>	</a:t>
            </a:r>
            <a:r>
              <a:rPr dirty="0" spc="-10"/>
              <a:t>Dashboard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781089" y="2869514"/>
            <a:ext cx="273050" cy="29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25">
                <a:solidFill>
                  <a:srgbClr val="5B6D8B"/>
                </a:solidFill>
                <a:latin typeface="Arial"/>
                <a:cs typeface="Arial"/>
              </a:rPr>
              <a:t>01</a:t>
            </a:r>
            <a:endParaRPr sz="175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3789" y="3146704"/>
            <a:ext cx="3664750" cy="3047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781089" y="3316376"/>
            <a:ext cx="2790825" cy="1227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solidFill>
                  <a:srgbClr val="5B6D8B"/>
                </a:solidFill>
                <a:latin typeface="Arial"/>
                <a:cs typeface="Arial"/>
              </a:rPr>
              <a:t>Interactive</a:t>
            </a:r>
            <a:r>
              <a:rPr dirty="0" sz="2200" spc="-14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2200" spc="-20">
                <a:solidFill>
                  <a:srgbClr val="5B6D8B"/>
                </a:solidFill>
                <a:latin typeface="Arial"/>
                <a:cs typeface="Arial"/>
              </a:rPr>
              <a:t>KPIs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35700"/>
              </a:lnSpc>
              <a:spcBef>
                <a:spcPts val="1120"/>
              </a:spcBef>
            </a:pP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3.9K</a:t>
            </a:r>
            <a:r>
              <a:rPr dirty="0" sz="1750" spc="-4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B6D8B"/>
                </a:solidFill>
                <a:latin typeface="Arial"/>
                <a:cs typeface="Arial"/>
              </a:rPr>
              <a:t>customers,</a:t>
            </a:r>
            <a:r>
              <a:rPr dirty="0" sz="1750" spc="-4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$59.76</a:t>
            </a:r>
            <a:r>
              <a:rPr dirty="0" sz="1750" spc="-4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 spc="-25">
                <a:solidFill>
                  <a:srgbClr val="5B6D8B"/>
                </a:solidFill>
                <a:latin typeface="Arial"/>
                <a:cs typeface="Arial"/>
              </a:rPr>
              <a:t>avg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purchase,</a:t>
            </a:r>
            <a:r>
              <a:rPr dirty="0" sz="1750" spc="-7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3.75</a:t>
            </a:r>
            <a:r>
              <a:rPr dirty="0" sz="1750" spc="-6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avg</a:t>
            </a:r>
            <a:r>
              <a:rPr dirty="0" sz="1750" spc="-6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B6D8B"/>
                </a:solidFill>
                <a:latin typeface="Arial"/>
                <a:cs typeface="Arial"/>
              </a:rPr>
              <a:t>rating</a:t>
            </a:r>
            <a:endParaRPr sz="175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672647" y="2869514"/>
            <a:ext cx="273050" cy="29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25">
                <a:solidFill>
                  <a:srgbClr val="5B6D8B"/>
                </a:solidFill>
                <a:latin typeface="Arial"/>
                <a:cs typeface="Arial"/>
              </a:rPr>
              <a:t>02</a:t>
            </a:r>
            <a:endParaRPr sz="1750">
              <a:latin typeface="Arial"/>
              <a:cs typeface="Arial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85347" y="3146704"/>
            <a:ext cx="3664864" cy="30479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4672647" y="3316376"/>
            <a:ext cx="3097530" cy="1227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solidFill>
                  <a:srgbClr val="5B6D8B"/>
                </a:solidFill>
                <a:latin typeface="Arial"/>
                <a:cs typeface="Arial"/>
              </a:rPr>
              <a:t>Dynamic</a:t>
            </a:r>
            <a:r>
              <a:rPr dirty="0" sz="2200" spc="-9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5B6D8B"/>
                </a:solidFill>
                <a:latin typeface="Arial"/>
                <a:cs typeface="Arial"/>
              </a:rPr>
              <a:t>Filters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35700"/>
              </a:lnSpc>
              <a:spcBef>
                <a:spcPts val="1120"/>
              </a:spcBef>
            </a:pPr>
            <a:r>
              <a:rPr dirty="0" sz="1750" spc="-10">
                <a:solidFill>
                  <a:srgbClr val="5B6D8B"/>
                </a:solidFill>
                <a:latin typeface="Arial"/>
                <a:cs typeface="Arial"/>
              </a:rPr>
              <a:t>Subscription,</a:t>
            </a:r>
            <a:r>
              <a:rPr dirty="0" sz="1750" spc="-5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gender,</a:t>
            </a:r>
            <a:r>
              <a:rPr dirty="0" sz="1750" spc="-5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B6D8B"/>
                </a:solidFill>
                <a:latin typeface="Arial"/>
                <a:cs typeface="Arial"/>
              </a:rPr>
              <a:t>category,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shipping</a:t>
            </a:r>
            <a:r>
              <a:rPr dirty="0" sz="1750" spc="-7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type</a:t>
            </a:r>
            <a:r>
              <a:rPr dirty="0" sz="1750" spc="-7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B6D8B"/>
                </a:solidFill>
                <a:latin typeface="Arial"/>
                <a:cs typeface="Arial"/>
              </a:rPr>
              <a:t>selection</a:t>
            </a:r>
            <a:endParaRPr sz="1750">
              <a:latin typeface="Arial"/>
              <a:cs typeface="Arial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3789" y="5266486"/>
            <a:ext cx="7556423" cy="30479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781089" y="4868594"/>
            <a:ext cx="6173470" cy="1455420"/>
          </a:xfrm>
          <a:prstGeom prst="rect">
            <a:avLst/>
          </a:prstGeom>
        </p:spPr>
        <p:txBody>
          <a:bodyPr wrap="square" lIns="0" tIns="1555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750" spc="-25">
                <a:solidFill>
                  <a:srgbClr val="5B6D8B"/>
                </a:solidFill>
                <a:latin typeface="Arial"/>
                <a:cs typeface="Arial"/>
              </a:rPr>
              <a:t>03</a:t>
            </a:r>
            <a:endParaRPr sz="1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dirty="0" sz="2200">
                <a:solidFill>
                  <a:srgbClr val="5B6D8B"/>
                </a:solidFill>
                <a:latin typeface="Arial"/>
                <a:cs typeface="Arial"/>
              </a:rPr>
              <a:t>Visual</a:t>
            </a:r>
            <a:r>
              <a:rPr dirty="0" sz="2200" spc="-7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5B6D8B"/>
                </a:solidFill>
                <a:latin typeface="Arial"/>
                <a:cs typeface="Arial"/>
              </a:rPr>
              <a:t>Analytics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Donut</a:t>
            </a:r>
            <a:r>
              <a:rPr dirty="0" sz="1750" spc="-6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charts,</a:t>
            </a:r>
            <a:r>
              <a:rPr dirty="0" sz="1750" spc="-6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bar</a:t>
            </a:r>
            <a:r>
              <a:rPr dirty="0" sz="1750" spc="-6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charts,</a:t>
            </a:r>
            <a:r>
              <a:rPr dirty="0" sz="1750" spc="-6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horizontal</a:t>
            </a:r>
            <a:r>
              <a:rPr dirty="0" sz="1750" spc="-6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bars</a:t>
            </a:r>
            <a:r>
              <a:rPr dirty="0" sz="1750" spc="-6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for</a:t>
            </a:r>
            <a:r>
              <a:rPr dirty="0" sz="1750" spc="-6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revenue</a:t>
            </a:r>
            <a:r>
              <a:rPr dirty="0" sz="1750" spc="-6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and</a:t>
            </a:r>
            <a:r>
              <a:rPr dirty="0" sz="1750" spc="-6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B6D8B"/>
                </a:solidFill>
                <a:latin typeface="Arial"/>
                <a:cs typeface="Arial"/>
              </a:rPr>
              <a:t>sales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089" y="1242054"/>
            <a:ext cx="3292475" cy="7035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43000" algn="l"/>
              </a:tabLst>
            </a:pPr>
            <a:r>
              <a:rPr dirty="0" spc="-25"/>
              <a:t>Key</a:t>
            </a:r>
            <a:r>
              <a:rPr dirty="0"/>
              <a:t>	</a:t>
            </a:r>
            <a:r>
              <a:rPr dirty="0" spc="-10"/>
              <a:t>Findings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Revenue</a:t>
            </a:r>
            <a:r>
              <a:rPr dirty="0" spc="-120"/>
              <a:t> </a:t>
            </a:r>
            <a:r>
              <a:rPr dirty="0" spc="-25"/>
              <a:t>Gap</a:t>
            </a:r>
          </a:p>
          <a:p>
            <a:pPr marL="12700" marR="398780">
              <a:lnSpc>
                <a:spcPct val="135700"/>
              </a:lnSpc>
              <a:spcBef>
                <a:spcPts val="1120"/>
              </a:spcBef>
            </a:pPr>
            <a:r>
              <a:rPr dirty="0" sz="1750"/>
              <a:t>Male</a:t>
            </a:r>
            <a:r>
              <a:rPr dirty="0" sz="1750" spc="-70"/>
              <a:t> </a:t>
            </a:r>
            <a:r>
              <a:rPr dirty="0" sz="1750"/>
              <a:t>customers</a:t>
            </a:r>
            <a:r>
              <a:rPr dirty="0" sz="1750" spc="-70"/>
              <a:t> </a:t>
            </a:r>
            <a:r>
              <a:rPr dirty="0" sz="1750"/>
              <a:t>generate</a:t>
            </a:r>
            <a:r>
              <a:rPr dirty="0" sz="1750" spc="-70"/>
              <a:t> </a:t>
            </a:r>
            <a:r>
              <a:rPr dirty="0" sz="1750"/>
              <a:t>2.1x</a:t>
            </a:r>
            <a:r>
              <a:rPr dirty="0" sz="1750" spc="-65"/>
              <a:t> </a:t>
            </a:r>
            <a:r>
              <a:rPr dirty="0" sz="1750"/>
              <a:t>more</a:t>
            </a:r>
            <a:r>
              <a:rPr dirty="0" sz="1750" spc="-70"/>
              <a:t> </a:t>
            </a:r>
            <a:r>
              <a:rPr dirty="0" sz="1750"/>
              <a:t>revenue</a:t>
            </a:r>
            <a:r>
              <a:rPr dirty="0" sz="1750" spc="-70"/>
              <a:t> </a:t>
            </a:r>
            <a:r>
              <a:rPr dirty="0" sz="1750"/>
              <a:t>than</a:t>
            </a:r>
            <a:r>
              <a:rPr dirty="0" sz="1750" spc="-65"/>
              <a:t> </a:t>
            </a:r>
            <a:r>
              <a:rPr dirty="0" sz="1750" spc="-10"/>
              <a:t>female customers</a:t>
            </a:r>
            <a:endParaRPr sz="1750"/>
          </a:p>
          <a:p>
            <a:pPr>
              <a:lnSpc>
                <a:spcPct val="100000"/>
              </a:lnSpc>
              <a:spcBef>
                <a:spcPts val="1675"/>
              </a:spcBef>
            </a:pPr>
            <a:endParaRPr sz="1750"/>
          </a:p>
          <a:p>
            <a:pPr marL="12700">
              <a:lnSpc>
                <a:spcPct val="100000"/>
              </a:lnSpc>
            </a:pPr>
            <a:r>
              <a:rPr dirty="0"/>
              <a:t>Discount</a:t>
            </a:r>
            <a:r>
              <a:rPr dirty="0" spc="-125"/>
              <a:t> </a:t>
            </a:r>
            <a:r>
              <a:rPr dirty="0" spc="-10"/>
              <a:t>Strategy</a:t>
            </a:r>
          </a:p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dirty="0" sz="1750" spc="-20"/>
              <a:t>High-</a:t>
            </a:r>
            <a:r>
              <a:rPr dirty="0" sz="1750"/>
              <a:t>discount</a:t>
            </a:r>
            <a:r>
              <a:rPr dirty="0" sz="1750" spc="-60"/>
              <a:t> </a:t>
            </a:r>
            <a:r>
              <a:rPr dirty="0" sz="1750"/>
              <a:t>products</a:t>
            </a:r>
            <a:r>
              <a:rPr dirty="0" sz="1750" spc="-55"/>
              <a:t> </a:t>
            </a:r>
            <a:r>
              <a:rPr dirty="0" sz="1750"/>
              <a:t>drive</a:t>
            </a:r>
            <a:r>
              <a:rPr dirty="0" sz="1750" spc="-60"/>
              <a:t> </a:t>
            </a:r>
            <a:r>
              <a:rPr dirty="0" sz="1750"/>
              <a:t>sales</a:t>
            </a:r>
            <a:r>
              <a:rPr dirty="0" sz="1750" spc="-55"/>
              <a:t> </a:t>
            </a:r>
            <a:r>
              <a:rPr dirty="0" sz="1750"/>
              <a:t>but</a:t>
            </a:r>
            <a:r>
              <a:rPr dirty="0" sz="1750" spc="-55"/>
              <a:t> </a:t>
            </a:r>
            <a:r>
              <a:rPr dirty="0" sz="1750"/>
              <a:t>may</a:t>
            </a:r>
            <a:r>
              <a:rPr dirty="0" sz="1750" spc="-60"/>
              <a:t> </a:t>
            </a:r>
            <a:r>
              <a:rPr dirty="0" sz="1750"/>
              <a:t>impact</a:t>
            </a:r>
            <a:r>
              <a:rPr dirty="0" sz="1750" spc="-55"/>
              <a:t> </a:t>
            </a:r>
            <a:r>
              <a:rPr dirty="0" sz="1750" spc="-10"/>
              <a:t>margins</a:t>
            </a:r>
            <a:endParaRPr sz="1750"/>
          </a:p>
          <a:p>
            <a:pPr>
              <a:lnSpc>
                <a:spcPct val="100000"/>
              </a:lnSpc>
            </a:pPr>
            <a:endParaRPr sz="1750"/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750"/>
          </a:p>
          <a:p>
            <a:pPr marL="12700">
              <a:lnSpc>
                <a:spcPct val="100000"/>
              </a:lnSpc>
            </a:pPr>
            <a:r>
              <a:rPr dirty="0"/>
              <a:t>Loyalty</a:t>
            </a:r>
            <a:r>
              <a:rPr dirty="0" spc="-85"/>
              <a:t> </a:t>
            </a:r>
            <a:r>
              <a:rPr dirty="0" spc="-20"/>
              <a:t>Base</a:t>
            </a:r>
          </a:p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dirty="0" sz="1750"/>
              <a:t>80%</a:t>
            </a:r>
            <a:r>
              <a:rPr dirty="0" sz="1750" spc="-60"/>
              <a:t> </a:t>
            </a:r>
            <a:r>
              <a:rPr dirty="0" sz="1750"/>
              <a:t>of</a:t>
            </a:r>
            <a:r>
              <a:rPr dirty="0" sz="1750" spc="-60"/>
              <a:t> </a:t>
            </a:r>
            <a:r>
              <a:rPr dirty="0" sz="1750"/>
              <a:t>customers</a:t>
            </a:r>
            <a:r>
              <a:rPr dirty="0" sz="1750" spc="-55"/>
              <a:t> </a:t>
            </a:r>
            <a:r>
              <a:rPr dirty="0" sz="1750"/>
              <a:t>are</a:t>
            </a:r>
            <a:r>
              <a:rPr dirty="0" sz="1750" spc="-60"/>
              <a:t> </a:t>
            </a:r>
            <a:r>
              <a:rPr dirty="0" sz="1750"/>
              <a:t>loyal</a:t>
            </a:r>
            <a:r>
              <a:rPr dirty="0" sz="1750" spc="-55"/>
              <a:t> </a:t>
            </a:r>
            <a:r>
              <a:rPr dirty="0" sz="1750"/>
              <a:t>with</a:t>
            </a:r>
            <a:r>
              <a:rPr dirty="0" sz="1750" spc="-60"/>
              <a:t> </a:t>
            </a:r>
            <a:r>
              <a:rPr dirty="0" sz="1750"/>
              <a:t>consistent</a:t>
            </a:r>
            <a:r>
              <a:rPr dirty="0" sz="1750" spc="-55"/>
              <a:t> </a:t>
            </a:r>
            <a:r>
              <a:rPr dirty="0" sz="1750"/>
              <a:t>purchase</a:t>
            </a:r>
            <a:r>
              <a:rPr dirty="0" sz="1750" spc="-60"/>
              <a:t> </a:t>
            </a:r>
            <a:r>
              <a:rPr dirty="0" sz="1750" spc="-10"/>
              <a:t>patterns</a:t>
            </a:r>
            <a:endParaRPr sz="1750"/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3789" y="2288971"/>
            <a:ext cx="1134069" cy="47005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089" y="829860"/>
            <a:ext cx="7118984" cy="7035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98395" algn="l"/>
              </a:tabLst>
            </a:pPr>
            <a:r>
              <a:rPr dirty="0" spc="-10"/>
              <a:t>Strategic</a:t>
            </a:r>
            <a:r>
              <a:rPr dirty="0"/>
              <a:t>	</a:t>
            </a:r>
            <a:r>
              <a:rPr dirty="0" spc="-10"/>
              <a:t>Recommendations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789979" y="1986445"/>
            <a:ext cx="4204335" cy="2600325"/>
            <a:chOff x="789979" y="1986445"/>
            <a:chExt cx="4204335" cy="2600325"/>
          </a:xfrm>
        </p:grpSpPr>
        <p:sp>
          <p:nvSpPr>
            <p:cNvPr id="4" name="object 4" descr=""/>
            <p:cNvSpPr/>
            <p:nvPr/>
          </p:nvSpPr>
          <p:spPr>
            <a:xfrm>
              <a:off x="793789" y="1990255"/>
              <a:ext cx="4196715" cy="2592705"/>
            </a:xfrm>
            <a:custGeom>
              <a:avLst/>
              <a:gdLst/>
              <a:ahLst/>
              <a:cxnLst/>
              <a:rect l="l" t="t" r="r" b="b"/>
              <a:pathLst>
                <a:path w="4196715" h="2592704">
                  <a:moveTo>
                    <a:pt x="3856113" y="0"/>
                  </a:moveTo>
                  <a:lnTo>
                    <a:pt x="340245" y="0"/>
                  </a:lnTo>
                  <a:lnTo>
                    <a:pt x="294340" y="3130"/>
                  </a:lnTo>
                  <a:lnTo>
                    <a:pt x="250232" y="12241"/>
                  </a:lnTo>
                  <a:lnTo>
                    <a:pt x="208338" y="26915"/>
                  </a:lnTo>
                  <a:lnTo>
                    <a:pt x="169076" y="46733"/>
                  </a:lnTo>
                  <a:lnTo>
                    <a:pt x="132867" y="71277"/>
                  </a:lnTo>
                  <a:lnTo>
                    <a:pt x="100127" y="100128"/>
                  </a:lnTo>
                  <a:lnTo>
                    <a:pt x="71277" y="132867"/>
                  </a:lnTo>
                  <a:lnTo>
                    <a:pt x="46733" y="169077"/>
                  </a:lnTo>
                  <a:lnTo>
                    <a:pt x="26915" y="208338"/>
                  </a:lnTo>
                  <a:lnTo>
                    <a:pt x="12241" y="250232"/>
                  </a:lnTo>
                  <a:lnTo>
                    <a:pt x="3130" y="294341"/>
                  </a:lnTo>
                  <a:lnTo>
                    <a:pt x="0" y="340245"/>
                  </a:lnTo>
                  <a:lnTo>
                    <a:pt x="0" y="2252103"/>
                  </a:lnTo>
                  <a:lnTo>
                    <a:pt x="3130" y="2298008"/>
                  </a:lnTo>
                  <a:lnTo>
                    <a:pt x="12241" y="2342116"/>
                  </a:lnTo>
                  <a:lnTo>
                    <a:pt x="26915" y="2384010"/>
                  </a:lnTo>
                  <a:lnTo>
                    <a:pt x="46733" y="2423271"/>
                  </a:lnTo>
                  <a:lnTo>
                    <a:pt x="71277" y="2459481"/>
                  </a:lnTo>
                  <a:lnTo>
                    <a:pt x="100127" y="2492221"/>
                  </a:lnTo>
                  <a:lnTo>
                    <a:pt x="132867" y="2521071"/>
                  </a:lnTo>
                  <a:lnTo>
                    <a:pt x="169076" y="2545615"/>
                  </a:lnTo>
                  <a:lnTo>
                    <a:pt x="208338" y="2565433"/>
                  </a:lnTo>
                  <a:lnTo>
                    <a:pt x="250232" y="2580107"/>
                  </a:lnTo>
                  <a:lnTo>
                    <a:pt x="294340" y="2589219"/>
                  </a:lnTo>
                  <a:lnTo>
                    <a:pt x="340245" y="2592349"/>
                  </a:lnTo>
                  <a:lnTo>
                    <a:pt x="3856113" y="2592349"/>
                  </a:lnTo>
                  <a:lnTo>
                    <a:pt x="3902018" y="2589219"/>
                  </a:lnTo>
                  <a:lnTo>
                    <a:pt x="3946126" y="2580107"/>
                  </a:lnTo>
                  <a:lnTo>
                    <a:pt x="3988020" y="2565433"/>
                  </a:lnTo>
                  <a:lnTo>
                    <a:pt x="4027281" y="2545615"/>
                  </a:lnTo>
                  <a:lnTo>
                    <a:pt x="4063491" y="2521071"/>
                  </a:lnTo>
                  <a:lnTo>
                    <a:pt x="4096231" y="2492221"/>
                  </a:lnTo>
                  <a:lnTo>
                    <a:pt x="4125081" y="2459481"/>
                  </a:lnTo>
                  <a:lnTo>
                    <a:pt x="4149625" y="2423271"/>
                  </a:lnTo>
                  <a:lnTo>
                    <a:pt x="4169443" y="2384010"/>
                  </a:lnTo>
                  <a:lnTo>
                    <a:pt x="4184117" y="2342116"/>
                  </a:lnTo>
                  <a:lnTo>
                    <a:pt x="4193229" y="2298008"/>
                  </a:lnTo>
                  <a:lnTo>
                    <a:pt x="4196359" y="2252103"/>
                  </a:lnTo>
                  <a:lnTo>
                    <a:pt x="4196359" y="340245"/>
                  </a:lnTo>
                  <a:lnTo>
                    <a:pt x="4193229" y="294341"/>
                  </a:lnTo>
                  <a:lnTo>
                    <a:pt x="4184117" y="250232"/>
                  </a:lnTo>
                  <a:lnTo>
                    <a:pt x="4169443" y="208338"/>
                  </a:lnTo>
                  <a:lnTo>
                    <a:pt x="4149625" y="169077"/>
                  </a:lnTo>
                  <a:lnTo>
                    <a:pt x="4125081" y="132867"/>
                  </a:lnTo>
                  <a:lnTo>
                    <a:pt x="4096231" y="100128"/>
                  </a:lnTo>
                  <a:lnTo>
                    <a:pt x="4063491" y="71277"/>
                  </a:lnTo>
                  <a:lnTo>
                    <a:pt x="4027281" y="46733"/>
                  </a:lnTo>
                  <a:lnTo>
                    <a:pt x="3988020" y="26915"/>
                  </a:lnTo>
                  <a:lnTo>
                    <a:pt x="3946126" y="12241"/>
                  </a:lnTo>
                  <a:lnTo>
                    <a:pt x="3902018" y="3130"/>
                  </a:lnTo>
                  <a:lnTo>
                    <a:pt x="3856113" y="0"/>
                  </a:lnTo>
                  <a:close/>
                </a:path>
              </a:pathLst>
            </a:custGeom>
            <a:solidFill>
              <a:srgbClr val="E6F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93789" y="1990255"/>
              <a:ext cx="4196715" cy="2592705"/>
            </a:xfrm>
            <a:custGeom>
              <a:avLst/>
              <a:gdLst/>
              <a:ahLst/>
              <a:cxnLst/>
              <a:rect l="l" t="t" r="r" b="b"/>
              <a:pathLst>
                <a:path w="4196715" h="2592704">
                  <a:moveTo>
                    <a:pt x="0" y="340245"/>
                  </a:moveTo>
                  <a:lnTo>
                    <a:pt x="3130" y="294341"/>
                  </a:lnTo>
                  <a:lnTo>
                    <a:pt x="12241" y="250232"/>
                  </a:lnTo>
                  <a:lnTo>
                    <a:pt x="26915" y="208338"/>
                  </a:lnTo>
                  <a:lnTo>
                    <a:pt x="46733" y="169077"/>
                  </a:lnTo>
                  <a:lnTo>
                    <a:pt x="71277" y="132867"/>
                  </a:lnTo>
                  <a:lnTo>
                    <a:pt x="100127" y="100128"/>
                  </a:lnTo>
                  <a:lnTo>
                    <a:pt x="132867" y="71277"/>
                  </a:lnTo>
                  <a:lnTo>
                    <a:pt x="169076" y="46733"/>
                  </a:lnTo>
                  <a:lnTo>
                    <a:pt x="208338" y="26915"/>
                  </a:lnTo>
                  <a:lnTo>
                    <a:pt x="250232" y="12241"/>
                  </a:lnTo>
                  <a:lnTo>
                    <a:pt x="294340" y="3130"/>
                  </a:lnTo>
                  <a:lnTo>
                    <a:pt x="340245" y="0"/>
                  </a:lnTo>
                  <a:lnTo>
                    <a:pt x="3856113" y="0"/>
                  </a:lnTo>
                  <a:lnTo>
                    <a:pt x="3902018" y="3130"/>
                  </a:lnTo>
                  <a:lnTo>
                    <a:pt x="3946126" y="12241"/>
                  </a:lnTo>
                  <a:lnTo>
                    <a:pt x="3988020" y="26915"/>
                  </a:lnTo>
                  <a:lnTo>
                    <a:pt x="4027281" y="46733"/>
                  </a:lnTo>
                  <a:lnTo>
                    <a:pt x="4063491" y="71277"/>
                  </a:lnTo>
                  <a:lnTo>
                    <a:pt x="4096231" y="100128"/>
                  </a:lnTo>
                  <a:lnTo>
                    <a:pt x="4125081" y="132867"/>
                  </a:lnTo>
                  <a:lnTo>
                    <a:pt x="4149625" y="169077"/>
                  </a:lnTo>
                  <a:lnTo>
                    <a:pt x="4169443" y="208338"/>
                  </a:lnTo>
                  <a:lnTo>
                    <a:pt x="4184117" y="250232"/>
                  </a:lnTo>
                  <a:lnTo>
                    <a:pt x="4193229" y="294341"/>
                  </a:lnTo>
                  <a:lnTo>
                    <a:pt x="4196359" y="340245"/>
                  </a:lnTo>
                  <a:lnTo>
                    <a:pt x="4196359" y="2252103"/>
                  </a:lnTo>
                  <a:lnTo>
                    <a:pt x="4193229" y="2298008"/>
                  </a:lnTo>
                  <a:lnTo>
                    <a:pt x="4184117" y="2342116"/>
                  </a:lnTo>
                  <a:lnTo>
                    <a:pt x="4169443" y="2384010"/>
                  </a:lnTo>
                  <a:lnTo>
                    <a:pt x="4149625" y="2423271"/>
                  </a:lnTo>
                  <a:lnTo>
                    <a:pt x="4125081" y="2459481"/>
                  </a:lnTo>
                  <a:lnTo>
                    <a:pt x="4096231" y="2492221"/>
                  </a:lnTo>
                  <a:lnTo>
                    <a:pt x="4063491" y="2521071"/>
                  </a:lnTo>
                  <a:lnTo>
                    <a:pt x="4027281" y="2545615"/>
                  </a:lnTo>
                  <a:lnTo>
                    <a:pt x="3988020" y="2565433"/>
                  </a:lnTo>
                  <a:lnTo>
                    <a:pt x="3946126" y="2580107"/>
                  </a:lnTo>
                  <a:lnTo>
                    <a:pt x="3902018" y="2589219"/>
                  </a:lnTo>
                  <a:lnTo>
                    <a:pt x="3856113" y="2592349"/>
                  </a:lnTo>
                  <a:lnTo>
                    <a:pt x="340245" y="2592349"/>
                  </a:lnTo>
                  <a:lnTo>
                    <a:pt x="294340" y="2589219"/>
                  </a:lnTo>
                  <a:lnTo>
                    <a:pt x="250232" y="2580107"/>
                  </a:lnTo>
                  <a:lnTo>
                    <a:pt x="208338" y="2565433"/>
                  </a:lnTo>
                  <a:lnTo>
                    <a:pt x="169076" y="2545615"/>
                  </a:lnTo>
                  <a:lnTo>
                    <a:pt x="132867" y="2521071"/>
                  </a:lnTo>
                  <a:lnTo>
                    <a:pt x="100127" y="2492221"/>
                  </a:lnTo>
                  <a:lnTo>
                    <a:pt x="71277" y="2459481"/>
                  </a:lnTo>
                  <a:lnTo>
                    <a:pt x="46733" y="2423271"/>
                  </a:lnTo>
                  <a:lnTo>
                    <a:pt x="26915" y="2384010"/>
                  </a:lnTo>
                  <a:lnTo>
                    <a:pt x="12241" y="2342116"/>
                  </a:lnTo>
                  <a:lnTo>
                    <a:pt x="3130" y="2298008"/>
                  </a:lnTo>
                  <a:lnTo>
                    <a:pt x="0" y="2252103"/>
                  </a:lnTo>
                  <a:lnTo>
                    <a:pt x="0" y="340245"/>
                  </a:lnTo>
                  <a:close/>
                </a:path>
              </a:pathLst>
            </a:custGeom>
            <a:ln w="7619">
              <a:solidFill>
                <a:srgbClr val="B3D4E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223" y="2224684"/>
              <a:ext cx="680441" cy="680440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1015523" y="3127298"/>
            <a:ext cx="3112135" cy="1227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latin typeface="Arial"/>
                <a:cs typeface="Arial"/>
              </a:rPr>
              <a:t>Boost</a:t>
            </a:r>
            <a:r>
              <a:rPr dirty="0" sz="2200" spc="-60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Subscriptions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35700"/>
              </a:lnSpc>
              <a:spcBef>
                <a:spcPts val="1120"/>
              </a:spcBef>
            </a:pPr>
            <a:r>
              <a:rPr dirty="0" sz="1750">
                <a:latin typeface="Arial"/>
                <a:cs typeface="Arial"/>
              </a:rPr>
              <a:t>Promote</a:t>
            </a:r>
            <a:r>
              <a:rPr dirty="0" sz="1750" spc="-90">
                <a:latin typeface="Arial"/>
                <a:cs typeface="Arial"/>
              </a:rPr>
              <a:t> </a:t>
            </a:r>
            <a:r>
              <a:rPr dirty="0" sz="1750">
                <a:latin typeface="Arial"/>
                <a:cs typeface="Arial"/>
              </a:rPr>
              <a:t>exclusive</a:t>
            </a:r>
            <a:r>
              <a:rPr dirty="0" sz="1750" spc="-85">
                <a:latin typeface="Arial"/>
                <a:cs typeface="Arial"/>
              </a:rPr>
              <a:t> </a:t>
            </a:r>
            <a:r>
              <a:rPr dirty="0" sz="1750">
                <a:latin typeface="Arial"/>
                <a:cs typeface="Arial"/>
              </a:rPr>
              <a:t>benefits</a:t>
            </a:r>
            <a:r>
              <a:rPr dirty="0" sz="1750" spc="-85">
                <a:latin typeface="Arial"/>
                <a:cs typeface="Arial"/>
              </a:rPr>
              <a:t> </a:t>
            </a:r>
            <a:r>
              <a:rPr dirty="0" sz="1750" spc="-25">
                <a:latin typeface="Arial"/>
                <a:cs typeface="Arial"/>
              </a:rPr>
              <a:t>and </a:t>
            </a:r>
            <a:r>
              <a:rPr dirty="0" sz="1750">
                <a:latin typeface="Arial"/>
                <a:cs typeface="Arial"/>
              </a:rPr>
              <a:t>incentives</a:t>
            </a:r>
            <a:r>
              <a:rPr dirty="0" sz="1750" spc="-65">
                <a:latin typeface="Arial"/>
                <a:cs typeface="Arial"/>
              </a:rPr>
              <a:t> </a:t>
            </a:r>
            <a:r>
              <a:rPr dirty="0" sz="1750">
                <a:latin typeface="Arial"/>
                <a:cs typeface="Arial"/>
              </a:rPr>
              <a:t>for</a:t>
            </a:r>
            <a:r>
              <a:rPr dirty="0" sz="1750" spc="-60">
                <a:latin typeface="Arial"/>
                <a:cs typeface="Arial"/>
              </a:rPr>
              <a:t> </a:t>
            </a:r>
            <a:r>
              <a:rPr dirty="0" sz="1750" spc="-10">
                <a:latin typeface="Arial"/>
                <a:cs typeface="Arial"/>
              </a:rPr>
              <a:t>subscribers</a:t>
            </a:r>
            <a:endParaRPr sz="175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5213146" y="1986445"/>
            <a:ext cx="4204335" cy="2600325"/>
            <a:chOff x="5213146" y="1986445"/>
            <a:chExt cx="4204335" cy="2600325"/>
          </a:xfrm>
        </p:grpSpPr>
        <p:sp>
          <p:nvSpPr>
            <p:cNvPr id="9" name="object 9" descr=""/>
            <p:cNvSpPr/>
            <p:nvPr/>
          </p:nvSpPr>
          <p:spPr>
            <a:xfrm>
              <a:off x="5216956" y="1990255"/>
              <a:ext cx="4196715" cy="2592705"/>
            </a:xfrm>
            <a:custGeom>
              <a:avLst/>
              <a:gdLst/>
              <a:ahLst/>
              <a:cxnLst/>
              <a:rect l="l" t="t" r="r" b="b"/>
              <a:pathLst>
                <a:path w="4196715" h="2592704">
                  <a:moveTo>
                    <a:pt x="3856113" y="0"/>
                  </a:moveTo>
                  <a:lnTo>
                    <a:pt x="340245" y="0"/>
                  </a:lnTo>
                  <a:lnTo>
                    <a:pt x="294340" y="3130"/>
                  </a:lnTo>
                  <a:lnTo>
                    <a:pt x="250232" y="12241"/>
                  </a:lnTo>
                  <a:lnTo>
                    <a:pt x="208338" y="26915"/>
                  </a:lnTo>
                  <a:lnTo>
                    <a:pt x="169076" y="46733"/>
                  </a:lnTo>
                  <a:lnTo>
                    <a:pt x="132867" y="71277"/>
                  </a:lnTo>
                  <a:lnTo>
                    <a:pt x="100127" y="100128"/>
                  </a:lnTo>
                  <a:lnTo>
                    <a:pt x="71277" y="132867"/>
                  </a:lnTo>
                  <a:lnTo>
                    <a:pt x="46733" y="169077"/>
                  </a:lnTo>
                  <a:lnTo>
                    <a:pt x="26915" y="208338"/>
                  </a:lnTo>
                  <a:lnTo>
                    <a:pt x="12241" y="250232"/>
                  </a:lnTo>
                  <a:lnTo>
                    <a:pt x="3130" y="294341"/>
                  </a:lnTo>
                  <a:lnTo>
                    <a:pt x="0" y="340245"/>
                  </a:lnTo>
                  <a:lnTo>
                    <a:pt x="0" y="2252103"/>
                  </a:lnTo>
                  <a:lnTo>
                    <a:pt x="3130" y="2298008"/>
                  </a:lnTo>
                  <a:lnTo>
                    <a:pt x="12241" y="2342116"/>
                  </a:lnTo>
                  <a:lnTo>
                    <a:pt x="26915" y="2384010"/>
                  </a:lnTo>
                  <a:lnTo>
                    <a:pt x="46733" y="2423271"/>
                  </a:lnTo>
                  <a:lnTo>
                    <a:pt x="71277" y="2459481"/>
                  </a:lnTo>
                  <a:lnTo>
                    <a:pt x="100127" y="2492221"/>
                  </a:lnTo>
                  <a:lnTo>
                    <a:pt x="132867" y="2521071"/>
                  </a:lnTo>
                  <a:lnTo>
                    <a:pt x="169076" y="2545615"/>
                  </a:lnTo>
                  <a:lnTo>
                    <a:pt x="208338" y="2565433"/>
                  </a:lnTo>
                  <a:lnTo>
                    <a:pt x="250232" y="2580107"/>
                  </a:lnTo>
                  <a:lnTo>
                    <a:pt x="294340" y="2589219"/>
                  </a:lnTo>
                  <a:lnTo>
                    <a:pt x="340245" y="2592349"/>
                  </a:lnTo>
                  <a:lnTo>
                    <a:pt x="3856113" y="2592349"/>
                  </a:lnTo>
                  <a:lnTo>
                    <a:pt x="3902018" y="2589219"/>
                  </a:lnTo>
                  <a:lnTo>
                    <a:pt x="3946126" y="2580107"/>
                  </a:lnTo>
                  <a:lnTo>
                    <a:pt x="3988020" y="2565433"/>
                  </a:lnTo>
                  <a:lnTo>
                    <a:pt x="4027281" y="2545615"/>
                  </a:lnTo>
                  <a:lnTo>
                    <a:pt x="4063491" y="2521071"/>
                  </a:lnTo>
                  <a:lnTo>
                    <a:pt x="4096231" y="2492221"/>
                  </a:lnTo>
                  <a:lnTo>
                    <a:pt x="4125081" y="2459481"/>
                  </a:lnTo>
                  <a:lnTo>
                    <a:pt x="4149625" y="2423271"/>
                  </a:lnTo>
                  <a:lnTo>
                    <a:pt x="4169443" y="2384010"/>
                  </a:lnTo>
                  <a:lnTo>
                    <a:pt x="4184117" y="2342116"/>
                  </a:lnTo>
                  <a:lnTo>
                    <a:pt x="4193229" y="2298008"/>
                  </a:lnTo>
                  <a:lnTo>
                    <a:pt x="4196359" y="2252103"/>
                  </a:lnTo>
                  <a:lnTo>
                    <a:pt x="4196359" y="340245"/>
                  </a:lnTo>
                  <a:lnTo>
                    <a:pt x="4193229" y="294341"/>
                  </a:lnTo>
                  <a:lnTo>
                    <a:pt x="4184117" y="250232"/>
                  </a:lnTo>
                  <a:lnTo>
                    <a:pt x="4169443" y="208338"/>
                  </a:lnTo>
                  <a:lnTo>
                    <a:pt x="4149625" y="169077"/>
                  </a:lnTo>
                  <a:lnTo>
                    <a:pt x="4125081" y="132867"/>
                  </a:lnTo>
                  <a:lnTo>
                    <a:pt x="4096231" y="100128"/>
                  </a:lnTo>
                  <a:lnTo>
                    <a:pt x="4063491" y="71277"/>
                  </a:lnTo>
                  <a:lnTo>
                    <a:pt x="4027281" y="46733"/>
                  </a:lnTo>
                  <a:lnTo>
                    <a:pt x="3988020" y="26915"/>
                  </a:lnTo>
                  <a:lnTo>
                    <a:pt x="3946126" y="12241"/>
                  </a:lnTo>
                  <a:lnTo>
                    <a:pt x="3902018" y="3130"/>
                  </a:lnTo>
                  <a:lnTo>
                    <a:pt x="3856113" y="0"/>
                  </a:lnTo>
                  <a:close/>
                </a:path>
              </a:pathLst>
            </a:custGeom>
            <a:solidFill>
              <a:srgbClr val="E6F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216956" y="1990255"/>
              <a:ext cx="4196715" cy="2592705"/>
            </a:xfrm>
            <a:custGeom>
              <a:avLst/>
              <a:gdLst/>
              <a:ahLst/>
              <a:cxnLst/>
              <a:rect l="l" t="t" r="r" b="b"/>
              <a:pathLst>
                <a:path w="4196715" h="2592704">
                  <a:moveTo>
                    <a:pt x="0" y="340245"/>
                  </a:moveTo>
                  <a:lnTo>
                    <a:pt x="3130" y="294341"/>
                  </a:lnTo>
                  <a:lnTo>
                    <a:pt x="12241" y="250232"/>
                  </a:lnTo>
                  <a:lnTo>
                    <a:pt x="26915" y="208338"/>
                  </a:lnTo>
                  <a:lnTo>
                    <a:pt x="46733" y="169077"/>
                  </a:lnTo>
                  <a:lnTo>
                    <a:pt x="71277" y="132867"/>
                  </a:lnTo>
                  <a:lnTo>
                    <a:pt x="100127" y="100128"/>
                  </a:lnTo>
                  <a:lnTo>
                    <a:pt x="132867" y="71277"/>
                  </a:lnTo>
                  <a:lnTo>
                    <a:pt x="169076" y="46733"/>
                  </a:lnTo>
                  <a:lnTo>
                    <a:pt x="208338" y="26915"/>
                  </a:lnTo>
                  <a:lnTo>
                    <a:pt x="250232" y="12241"/>
                  </a:lnTo>
                  <a:lnTo>
                    <a:pt x="294340" y="3130"/>
                  </a:lnTo>
                  <a:lnTo>
                    <a:pt x="340245" y="0"/>
                  </a:lnTo>
                  <a:lnTo>
                    <a:pt x="3856113" y="0"/>
                  </a:lnTo>
                  <a:lnTo>
                    <a:pt x="3902018" y="3130"/>
                  </a:lnTo>
                  <a:lnTo>
                    <a:pt x="3946126" y="12241"/>
                  </a:lnTo>
                  <a:lnTo>
                    <a:pt x="3988020" y="26915"/>
                  </a:lnTo>
                  <a:lnTo>
                    <a:pt x="4027281" y="46733"/>
                  </a:lnTo>
                  <a:lnTo>
                    <a:pt x="4063491" y="71277"/>
                  </a:lnTo>
                  <a:lnTo>
                    <a:pt x="4096231" y="100128"/>
                  </a:lnTo>
                  <a:lnTo>
                    <a:pt x="4125081" y="132867"/>
                  </a:lnTo>
                  <a:lnTo>
                    <a:pt x="4149625" y="169077"/>
                  </a:lnTo>
                  <a:lnTo>
                    <a:pt x="4169443" y="208338"/>
                  </a:lnTo>
                  <a:lnTo>
                    <a:pt x="4184117" y="250232"/>
                  </a:lnTo>
                  <a:lnTo>
                    <a:pt x="4193229" y="294341"/>
                  </a:lnTo>
                  <a:lnTo>
                    <a:pt x="4196359" y="340245"/>
                  </a:lnTo>
                  <a:lnTo>
                    <a:pt x="4196359" y="2252103"/>
                  </a:lnTo>
                  <a:lnTo>
                    <a:pt x="4193229" y="2298008"/>
                  </a:lnTo>
                  <a:lnTo>
                    <a:pt x="4184117" y="2342116"/>
                  </a:lnTo>
                  <a:lnTo>
                    <a:pt x="4169443" y="2384010"/>
                  </a:lnTo>
                  <a:lnTo>
                    <a:pt x="4149625" y="2423271"/>
                  </a:lnTo>
                  <a:lnTo>
                    <a:pt x="4125081" y="2459481"/>
                  </a:lnTo>
                  <a:lnTo>
                    <a:pt x="4096231" y="2492221"/>
                  </a:lnTo>
                  <a:lnTo>
                    <a:pt x="4063491" y="2521071"/>
                  </a:lnTo>
                  <a:lnTo>
                    <a:pt x="4027281" y="2545615"/>
                  </a:lnTo>
                  <a:lnTo>
                    <a:pt x="3988020" y="2565433"/>
                  </a:lnTo>
                  <a:lnTo>
                    <a:pt x="3946126" y="2580107"/>
                  </a:lnTo>
                  <a:lnTo>
                    <a:pt x="3902018" y="2589219"/>
                  </a:lnTo>
                  <a:lnTo>
                    <a:pt x="3856113" y="2592349"/>
                  </a:lnTo>
                  <a:lnTo>
                    <a:pt x="340245" y="2592349"/>
                  </a:lnTo>
                  <a:lnTo>
                    <a:pt x="294340" y="2589219"/>
                  </a:lnTo>
                  <a:lnTo>
                    <a:pt x="250232" y="2580107"/>
                  </a:lnTo>
                  <a:lnTo>
                    <a:pt x="208338" y="2565433"/>
                  </a:lnTo>
                  <a:lnTo>
                    <a:pt x="169076" y="2545615"/>
                  </a:lnTo>
                  <a:lnTo>
                    <a:pt x="132867" y="2521071"/>
                  </a:lnTo>
                  <a:lnTo>
                    <a:pt x="100127" y="2492221"/>
                  </a:lnTo>
                  <a:lnTo>
                    <a:pt x="71277" y="2459481"/>
                  </a:lnTo>
                  <a:lnTo>
                    <a:pt x="46733" y="2423271"/>
                  </a:lnTo>
                  <a:lnTo>
                    <a:pt x="26915" y="2384010"/>
                  </a:lnTo>
                  <a:lnTo>
                    <a:pt x="12241" y="2342116"/>
                  </a:lnTo>
                  <a:lnTo>
                    <a:pt x="3130" y="2298008"/>
                  </a:lnTo>
                  <a:lnTo>
                    <a:pt x="0" y="2252103"/>
                  </a:lnTo>
                  <a:lnTo>
                    <a:pt x="0" y="340245"/>
                  </a:lnTo>
                  <a:close/>
                </a:path>
              </a:pathLst>
            </a:custGeom>
            <a:ln w="7619">
              <a:solidFill>
                <a:srgbClr val="B3D4E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51398" y="2224684"/>
              <a:ext cx="680441" cy="680440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5438698" y="3127298"/>
            <a:ext cx="3543935" cy="1227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latin typeface="Arial"/>
                <a:cs typeface="Arial"/>
              </a:rPr>
              <a:t>Loyalty</a:t>
            </a:r>
            <a:r>
              <a:rPr dirty="0" sz="2200" spc="-85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Programs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35700"/>
              </a:lnSpc>
              <a:spcBef>
                <a:spcPts val="1120"/>
              </a:spcBef>
            </a:pPr>
            <a:r>
              <a:rPr dirty="0" sz="1750">
                <a:latin typeface="Arial"/>
                <a:cs typeface="Arial"/>
              </a:rPr>
              <a:t>Reward</a:t>
            </a:r>
            <a:r>
              <a:rPr dirty="0" sz="1750" spc="-60">
                <a:latin typeface="Arial"/>
                <a:cs typeface="Arial"/>
              </a:rPr>
              <a:t> </a:t>
            </a:r>
            <a:r>
              <a:rPr dirty="0" sz="1750">
                <a:latin typeface="Arial"/>
                <a:cs typeface="Arial"/>
              </a:rPr>
              <a:t>repeat</a:t>
            </a:r>
            <a:r>
              <a:rPr dirty="0" sz="1750" spc="-55">
                <a:latin typeface="Arial"/>
                <a:cs typeface="Arial"/>
              </a:rPr>
              <a:t> </a:t>
            </a:r>
            <a:r>
              <a:rPr dirty="0" sz="1750">
                <a:latin typeface="Arial"/>
                <a:cs typeface="Arial"/>
              </a:rPr>
              <a:t>buyers</a:t>
            </a:r>
            <a:r>
              <a:rPr dirty="0" sz="1750" spc="-60">
                <a:latin typeface="Arial"/>
                <a:cs typeface="Arial"/>
              </a:rPr>
              <a:t> </a:t>
            </a:r>
            <a:r>
              <a:rPr dirty="0" sz="1750">
                <a:latin typeface="Arial"/>
                <a:cs typeface="Arial"/>
              </a:rPr>
              <a:t>to</a:t>
            </a:r>
            <a:r>
              <a:rPr dirty="0" sz="1750" spc="-55">
                <a:latin typeface="Arial"/>
                <a:cs typeface="Arial"/>
              </a:rPr>
              <a:t> </a:t>
            </a:r>
            <a:r>
              <a:rPr dirty="0" sz="1750" spc="-10">
                <a:latin typeface="Arial"/>
                <a:cs typeface="Arial"/>
              </a:rPr>
              <a:t>accelerate </a:t>
            </a:r>
            <a:r>
              <a:rPr dirty="0" sz="1750">
                <a:latin typeface="Arial"/>
                <a:cs typeface="Arial"/>
              </a:rPr>
              <a:t>movement</a:t>
            </a:r>
            <a:r>
              <a:rPr dirty="0" sz="1750" spc="-65">
                <a:latin typeface="Arial"/>
                <a:cs typeface="Arial"/>
              </a:rPr>
              <a:t> </a:t>
            </a:r>
            <a:r>
              <a:rPr dirty="0" sz="1750">
                <a:latin typeface="Arial"/>
                <a:cs typeface="Arial"/>
              </a:rPr>
              <a:t>to</a:t>
            </a:r>
            <a:r>
              <a:rPr dirty="0" sz="1750" spc="-60">
                <a:latin typeface="Arial"/>
                <a:cs typeface="Arial"/>
              </a:rPr>
              <a:t> </a:t>
            </a:r>
            <a:r>
              <a:rPr dirty="0" sz="1750">
                <a:latin typeface="Arial"/>
                <a:cs typeface="Arial"/>
              </a:rPr>
              <a:t>loyal</a:t>
            </a:r>
            <a:r>
              <a:rPr dirty="0" sz="1750" spc="-65">
                <a:latin typeface="Arial"/>
                <a:cs typeface="Arial"/>
              </a:rPr>
              <a:t> </a:t>
            </a:r>
            <a:r>
              <a:rPr dirty="0" sz="1750" spc="-10">
                <a:latin typeface="Arial"/>
                <a:cs typeface="Arial"/>
              </a:rPr>
              <a:t>segment</a:t>
            </a:r>
            <a:endParaRPr sz="1750">
              <a:latin typeface="Arial"/>
              <a:cs typeface="Arial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9636328" y="1986445"/>
            <a:ext cx="4204335" cy="2600325"/>
            <a:chOff x="9636328" y="1986445"/>
            <a:chExt cx="4204335" cy="2600325"/>
          </a:xfrm>
        </p:grpSpPr>
        <p:sp>
          <p:nvSpPr>
            <p:cNvPr id="14" name="object 14" descr=""/>
            <p:cNvSpPr/>
            <p:nvPr/>
          </p:nvSpPr>
          <p:spPr>
            <a:xfrm>
              <a:off x="9640137" y="1990255"/>
              <a:ext cx="4196715" cy="2592705"/>
            </a:xfrm>
            <a:custGeom>
              <a:avLst/>
              <a:gdLst/>
              <a:ahLst/>
              <a:cxnLst/>
              <a:rect l="l" t="t" r="r" b="b"/>
              <a:pathLst>
                <a:path w="4196715" h="2592704">
                  <a:moveTo>
                    <a:pt x="3856113" y="0"/>
                  </a:moveTo>
                  <a:lnTo>
                    <a:pt x="340245" y="0"/>
                  </a:lnTo>
                  <a:lnTo>
                    <a:pt x="294340" y="3130"/>
                  </a:lnTo>
                  <a:lnTo>
                    <a:pt x="250232" y="12241"/>
                  </a:lnTo>
                  <a:lnTo>
                    <a:pt x="208338" y="26915"/>
                  </a:lnTo>
                  <a:lnTo>
                    <a:pt x="169076" y="46733"/>
                  </a:lnTo>
                  <a:lnTo>
                    <a:pt x="132867" y="71277"/>
                  </a:lnTo>
                  <a:lnTo>
                    <a:pt x="100127" y="100128"/>
                  </a:lnTo>
                  <a:lnTo>
                    <a:pt x="71277" y="132867"/>
                  </a:lnTo>
                  <a:lnTo>
                    <a:pt x="46733" y="169077"/>
                  </a:lnTo>
                  <a:lnTo>
                    <a:pt x="26915" y="208338"/>
                  </a:lnTo>
                  <a:lnTo>
                    <a:pt x="12241" y="250232"/>
                  </a:lnTo>
                  <a:lnTo>
                    <a:pt x="3130" y="294341"/>
                  </a:lnTo>
                  <a:lnTo>
                    <a:pt x="0" y="340245"/>
                  </a:lnTo>
                  <a:lnTo>
                    <a:pt x="0" y="2252103"/>
                  </a:lnTo>
                  <a:lnTo>
                    <a:pt x="3130" y="2298008"/>
                  </a:lnTo>
                  <a:lnTo>
                    <a:pt x="12241" y="2342116"/>
                  </a:lnTo>
                  <a:lnTo>
                    <a:pt x="26915" y="2384010"/>
                  </a:lnTo>
                  <a:lnTo>
                    <a:pt x="46733" y="2423271"/>
                  </a:lnTo>
                  <a:lnTo>
                    <a:pt x="71277" y="2459481"/>
                  </a:lnTo>
                  <a:lnTo>
                    <a:pt x="100127" y="2492221"/>
                  </a:lnTo>
                  <a:lnTo>
                    <a:pt x="132867" y="2521071"/>
                  </a:lnTo>
                  <a:lnTo>
                    <a:pt x="169076" y="2545615"/>
                  </a:lnTo>
                  <a:lnTo>
                    <a:pt x="208338" y="2565433"/>
                  </a:lnTo>
                  <a:lnTo>
                    <a:pt x="250232" y="2580107"/>
                  </a:lnTo>
                  <a:lnTo>
                    <a:pt x="294340" y="2589219"/>
                  </a:lnTo>
                  <a:lnTo>
                    <a:pt x="340245" y="2592349"/>
                  </a:lnTo>
                  <a:lnTo>
                    <a:pt x="3856113" y="2592349"/>
                  </a:lnTo>
                  <a:lnTo>
                    <a:pt x="3902018" y="2589219"/>
                  </a:lnTo>
                  <a:lnTo>
                    <a:pt x="3946126" y="2580107"/>
                  </a:lnTo>
                  <a:lnTo>
                    <a:pt x="3988020" y="2565433"/>
                  </a:lnTo>
                  <a:lnTo>
                    <a:pt x="4027281" y="2545615"/>
                  </a:lnTo>
                  <a:lnTo>
                    <a:pt x="4063491" y="2521071"/>
                  </a:lnTo>
                  <a:lnTo>
                    <a:pt x="4096231" y="2492221"/>
                  </a:lnTo>
                  <a:lnTo>
                    <a:pt x="4125081" y="2459481"/>
                  </a:lnTo>
                  <a:lnTo>
                    <a:pt x="4149625" y="2423271"/>
                  </a:lnTo>
                  <a:lnTo>
                    <a:pt x="4169443" y="2384010"/>
                  </a:lnTo>
                  <a:lnTo>
                    <a:pt x="4184117" y="2342116"/>
                  </a:lnTo>
                  <a:lnTo>
                    <a:pt x="4193229" y="2298008"/>
                  </a:lnTo>
                  <a:lnTo>
                    <a:pt x="4196359" y="2252103"/>
                  </a:lnTo>
                  <a:lnTo>
                    <a:pt x="4196359" y="340245"/>
                  </a:lnTo>
                  <a:lnTo>
                    <a:pt x="4193229" y="294341"/>
                  </a:lnTo>
                  <a:lnTo>
                    <a:pt x="4184117" y="250232"/>
                  </a:lnTo>
                  <a:lnTo>
                    <a:pt x="4169443" y="208338"/>
                  </a:lnTo>
                  <a:lnTo>
                    <a:pt x="4149625" y="169077"/>
                  </a:lnTo>
                  <a:lnTo>
                    <a:pt x="4125081" y="132867"/>
                  </a:lnTo>
                  <a:lnTo>
                    <a:pt x="4096231" y="100128"/>
                  </a:lnTo>
                  <a:lnTo>
                    <a:pt x="4063491" y="71277"/>
                  </a:lnTo>
                  <a:lnTo>
                    <a:pt x="4027281" y="46733"/>
                  </a:lnTo>
                  <a:lnTo>
                    <a:pt x="3988020" y="26915"/>
                  </a:lnTo>
                  <a:lnTo>
                    <a:pt x="3946126" y="12241"/>
                  </a:lnTo>
                  <a:lnTo>
                    <a:pt x="3902018" y="3130"/>
                  </a:lnTo>
                  <a:lnTo>
                    <a:pt x="3856113" y="0"/>
                  </a:lnTo>
                  <a:close/>
                </a:path>
              </a:pathLst>
            </a:custGeom>
            <a:solidFill>
              <a:srgbClr val="E6F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9640137" y="1990255"/>
              <a:ext cx="4196715" cy="2592705"/>
            </a:xfrm>
            <a:custGeom>
              <a:avLst/>
              <a:gdLst/>
              <a:ahLst/>
              <a:cxnLst/>
              <a:rect l="l" t="t" r="r" b="b"/>
              <a:pathLst>
                <a:path w="4196715" h="2592704">
                  <a:moveTo>
                    <a:pt x="0" y="340245"/>
                  </a:moveTo>
                  <a:lnTo>
                    <a:pt x="3130" y="294341"/>
                  </a:lnTo>
                  <a:lnTo>
                    <a:pt x="12241" y="250232"/>
                  </a:lnTo>
                  <a:lnTo>
                    <a:pt x="26915" y="208338"/>
                  </a:lnTo>
                  <a:lnTo>
                    <a:pt x="46733" y="169077"/>
                  </a:lnTo>
                  <a:lnTo>
                    <a:pt x="71277" y="132867"/>
                  </a:lnTo>
                  <a:lnTo>
                    <a:pt x="100127" y="100128"/>
                  </a:lnTo>
                  <a:lnTo>
                    <a:pt x="132867" y="71277"/>
                  </a:lnTo>
                  <a:lnTo>
                    <a:pt x="169076" y="46733"/>
                  </a:lnTo>
                  <a:lnTo>
                    <a:pt x="208338" y="26915"/>
                  </a:lnTo>
                  <a:lnTo>
                    <a:pt x="250232" y="12241"/>
                  </a:lnTo>
                  <a:lnTo>
                    <a:pt x="294340" y="3130"/>
                  </a:lnTo>
                  <a:lnTo>
                    <a:pt x="340245" y="0"/>
                  </a:lnTo>
                  <a:lnTo>
                    <a:pt x="3856113" y="0"/>
                  </a:lnTo>
                  <a:lnTo>
                    <a:pt x="3902018" y="3130"/>
                  </a:lnTo>
                  <a:lnTo>
                    <a:pt x="3946126" y="12241"/>
                  </a:lnTo>
                  <a:lnTo>
                    <a:pt x="3988020" y="26915"/>
                  </a:lnTo>
                  <a:lnTo>
                    <a:pt x="4027281" y="46733"/>
                  </a:lnTo>
                  <a:lnTo>
                    <a:pt x="4063491" y="71277"/>
                  </a:lnTo>
                  <a:lnTo>
                    <a:pt x="4096231" y="100128"/>
                  </a:lnTo>
                  <a:lnTo>
                    <a:pt x="4125081" y="132867"/>
                  </a:lnTo>
                  <a:lnTo>
                    <a:pt x="4149625" y="169077"/>
                  </a:lnTo>
                  <a:lnTo>
                    <a:pt x="4169443" y="208338"/>
                  </a:lnTo>
                  <a:lnTo>
                    <a:pt x="4184117" y="250232"/>
                  </a:lnTo>
                  <a:lnTo>
                    <a:pt x="4193229" y="294341"/>
                  </a:lnTo>
                  <a:lnTo>
                    <a:pt x="4196359" y="340245"/>
                  </a:lnTo>
                  <a:lnTo>
                    <a:pt x="4196359" y="2252103"/>
                  </a:lnTo>
                  <a:lnTo>
                    <a:pt x="4193229" y="2298008"/>
                  </a:lnTo>
                  <a:lnTo>
                    <a:pt x="4184117" y="2342116"/>
                  </a:lnTo>
                  <a:lnTo>
                    <a:pt x="4169443" y="2384010"/>
                  </a:lnTo>
                  <a:lnTo>
                    <a:pt x="4149625" y="2423271"/>
                  </a:lnTo>
                  <a:lnTo>
                    <a:pt x="4125081" y="2459481"/>
                  </a:lnTo>
                  <a:lnTo>
                    <a:pt x="4096231" y="2492221"/>
                  </a:lnTo>
                  <a:lnTo>
                    <a:pt x="4063491" y="2521071"/>
                  </a:lnTo>
                  <a:lnTo>
                    <a:pt x="4027281" y="2545615"/>
                  </a:lnTo>
                  <a:lnTo>
                    <a:pt x="3988020" y="2565433"/>
                  </a:lnTo>
                  <a:lnTo>
                    <a:pt x="3946126" y="2580107"/>
                  </a:lnTo>
                  <a:lnTo>
                    <a:pt x="3902018" y="2589219"/>
                  </a:lnTo>
                  <a:lnTo>
                    <a:pt x="3856113" y="2592349"/>
                  </a:lnTo>
                  <a:lnTo>
                    <a:pt x="340245" y="2592349"/>
                  </a:lnTo>
                  <a:lnTo>
                    <a:pt x="294340" y="2589219"/>
                  </a:lnTo>
                  <a:lnTo>
                    <a:pt x="250232" y="2580107"/>
                  </a:lnTo>
                  <a:lnTo>
                    <a:pt x="208338" y="2565433"/>
                  </a:lnTo>
                  <a:lnTo>
                    <a:pt x="169076" y="2545615"/>
                  </a:lnTo>
                  <a:lnTo>
                    <a:pt x="132867" y="2521071"/>
                  </a:lnTo>
                  <a:lnTo>
                    <a:pt x="100127" y="2492221"/>
                  </a:lnTo>
                  <a:lnTo>
                    <a:pt x="71277" y="2459481"/>
                  </a:lnTo>
                  <a:lnTo>
                    <a:pt x="46733" y="2423271"/>
                  </a:lnTo>
                  <a:lnTo>
                    <a:pt x="26915" y="2384010"/>
                  </a:lnTo>
                  <a:lnTo>
                    <a:pt x="12241" y="2342116"/>
                  </a:lnTo>
                  <a:lnTo>
                    <a:pt x="3130" y="2298008"/>
                  </a:lnTo>
                  <a:lnTo>
                    <a:pt x="0" y="2252103"/>
                  </a:lnTo>
                  <a:lnTo>
                    <a:pt x="0" y="340245"/>
                  </a:lnTo>
                  <a:close/>
                </a:path>
              </a:pathLst>
            </a:custGeom>
            <a:ln w="7619">
              <a:solidFill>
                <a:srgbClr val="B3D4E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74567" y="2224684"/>
              <a:ext cx="680441" cy="680440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9861867" y="3127298"/>
            <a:ext cx="3322320" cy="1227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latin typeface="Arial"/>
                <a:cs typeface="Arial"/>
              </a:rPr>
              <a:t>Review</a:t>
            </a:r>
            <a:r>
              <a:rPr dirty="0" sz="2200" spc="-7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Discount</a:t>
            </a:r>
            <a:r>
              <a:rPr dirty="0" sz="2200" spc="-75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Policy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35700"/>
              </a:lnSpc>
              <a:spcBef>
                <a:spcPts val="1120"/>
              </a:spcBef>
            </a:pPr>
            <a:r>
              <a:rPr dirty="0" sz="1750">
                <a:latin typeface="Arial"/>
                <a:cs typeface="Arial"/>
              </a:rPr>
              <a:t>Balance</a:t>
            </a:r>
            <a:r>
              <a:rPr dirty="0" sz="1750" spc="-50">
                <a:latin typeface="Arial"/>
                <a:cs typeface="Arial"/>
              </a:rPr>
              <a:t> </a:t>
            </a:r>
            <a:r>
              <a:rPr dirty="0" sz="1750">
                <a:latin typeface="Arial"/>
                <a:cs typeface="Arial"/>
              </a:rPr>
              <a:t>sales</a:t>
            </a:r>
            <a:r>
              <a:rPr dirty="0" sz="1750" spc="-55">
                <a:latin typeface="Arial"/>
                <a:cs typeface="Arial"/>
              </a:rPr>
              <a:t> </a:t>
            </a:r>
            <a:r>
              <a:rPr dirty="0" sz="1750">
                <a:latin typeface="Arial"/>
                <a:cs typeface="Arial"/>
              </a:rPr>
              <a:t>boosts</a:t>
            </a:r>
            <a:r>
              <a:rPr dirty="0" sz="1750" spc="-50">
                <a:latin typeface="Arial"/>
                <a:cs typeface="Arial"/>
              </a:rPr>
              <a:t> </a:t>
            </a:r>
            <a:r>
              <a:rPr dirty="0" sz="1750">
                <a:latin typeface="Arial"/>
                <a:cs typeface="Arial"/>
              </a:rPr>
              <a:t>with</a:t>
            </a:r>
            <a:r>
              <a:rPr dirty="0" sz="1750" spc="-50">
                <a:latin typeface="Arial"/>
                <a:cs typeface="Arial"/>
              </a:rPr>
              <a:t> </a:t>
            </a:r>
            <a:r>
              <a:rPr dirty="0" sz="1750" spc="-10">
                <a:latin typeface="Arial"/>
                <a:cs typeface="Arial"/>
              </a:rPr>
              <a:t>margin </a:t>
            </a:r>
            <a:r>
              <a:rPr dirty="0" sz="1750">
                <a:latin typeface="Arial"/>
                <a:cs typeface="Arial"/>
              </a:rPr>
              <a:t>control</a:t>
            </a:r>
            <a:r>
              <a:rPr dirty="0" sz="1750" spc="-75">
                <a:latin typeface="Arial"/>
                <a:cs typeface="Arial"/>
              </a:rPr>
              <a:t> </a:t>
            </a:r>
            <a:r>
              <a:rPr dirty="0" sz="1750">
                <a:latin typeface="Arial"/>
                <a:cs typeface="Arial"/>
              </a:rPr>
              <a:t>across</a:t>
            </a:r>
            <a:r>
              <a:rPr dirty="0" sz="1750" spc="-75">
                <a:latin typeface="Arial"/>
                <a:cs typeface="Arial"/>
              </a:rPr>
              <a:t> </a:t>
            </a:r>
            <a:r>
              <a:rPr dirty="0" sz="1750">
                <a:latin typeface="Arial"/>
                <a:cs typeface="Arial"/>
              </a:rPr>
              <a:t>product</a:t>
            </a:r>
            <a:r>
              <a:rPr dirty="0" sz="1750" spc="-70">
                <a:latin typeface="Arial"/>
                <a:cs typeface="Arial"/>
              </a:rPr>
              <a:t> </a:t>
            </a:r>
            <a:r>
              <a:rPr dirty="0" sz="1750" spc="-10">
                <a:latin typeface="Arial"/>
                <a:cs typeface="Arial"/>
              </a:rPr>
              <a:t>categories</a:t>
            </a:r>
            <a:endParaRPr sz="1750">
              <a:latin typeface="Arial"/>
              <a:cs typeface="Arial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789979" y="4805603"/>
            <a:ext cx="6416040" cy="2600325"/>
            <a:chOff x="789979" y="4805603"/>
            <a:chExt cx="6416040" cy="2600325"/>
          </a:xfrm>
        </p:grpSpPr>
        <p:sp>
          <p:nvSpPr>
            <p:cNvPr id="19" name="object 19" descr=""/>
            <p:cNvSpPr/>
            <p:nvPr/>
          </p:nvSpPr>
          <p:spPr>
            <a:xfrm>
              <a:off x="793789" y="4809413"/>
              <a:ext cx="6408420" cy="2592705"/>
            </a:xfrm>
            <a:custGeom>
              <a:avLst/>
              <a:gdLst/>
              <a:ahLst/>
              <a:cxnLst/>
              <a:rect l="l" t="t" r="r" b="b"/>
              <a:pathLst>
                <a:path w="6408420" h="2592704">
                  <a:moveTo>
                    <a:pt x="6067704" y="0"/>
                  </a:moveTo>
                  <a:lnTo>
                    <a:pt x="340245" y="0"/>
                  </a:lnTo>
                  <a:lnTo>
                    <a:pt x="294340" y="3130"/>
                  </a:lnTo>
                  <a:lnTo>
                    <a:pt x="250232" y="12241"/>
                  </a:lnTo>
                  <a:lnTo>
                    <a:pt x="208338" y="26915"/>
                  </a:lnTo>
                  <a:lnTo>
                    <a:pt x="169076" y="46733"/>
                  </a:lnTo>
                  <a:lnTo>
                    <a:pt x="132867" y="71277"/>
                  </a:lnTo>
                  <a:lnTo>
                    <a:pt x="100127" y="100128"/>
                  </a:lnTo>
                  <a:lnTo>
                    <a:pt x="71277" y="132867"/>
                  </a:lnTo>
                  <a:lnTo>
                    <a:pt x="46733" y="169077"/>
                  </a:lnTo>
                  <a:lnTo>
                    <a:pt x="26915" y="208338"/>
                  </a:lnTo>
                  <a:lnTo>
                    <a:pt x="12241" y="250232"/>
                  </a:lnTo>
                  <a:lnTo>
                    <a:pt x="3130" y="294341"/>
                  </a:lnTo>
                  <a:lnTo>
                    <a:pt x="0" y="340245"/>
                  </a:lnTo>
                  <a:lnTo>
                    <a:pt x="0" y="2252103"/>
                  </a:lnTo>
                  <a:lnTo>
                    <a:pt x="3130" y="2298008"/>
                  </a:lnTo>
                  <a:lnTo>
                    <a:pt x="12241" y="2342116"/>
                  </a:lnTo>
                  <a:lnTo>
                    <a:pt x="26915" y="2384010"/>
                  </a:lnTo>
                  <a:lnTo>
                    <a:pt x="46733" y="2423271"/>
                  </a:lnTo>
                  <a:lnTo>
                    <a:pt x="71277" y="2459481"/>
                  </a:lnTo>
                  <a:lnTo>
                    <a:pt x="100127" y="2492221"/>
                  </a:lnTo>
                  <a:lnTo>
                    <a:pt x="132867" y="2521071"/>
                  </a:lnTo>
                  <a:lnTo>
                    <a:pt x="169076" y="2545615"/>
                  </a:lnTo>
                  <a:lnTo>
                    <a:pt x="208338" y="2565433"/>
                  </a:lnTo>
                  <a:lnTo>
                    <a:pt x="250232" y="2580107"/>
                  </a:lnTo>
                  <a:lnTo>
                    <a:pt x="294340" y="2589219"/>
                  </a:lnTo>
                  <a:lnTo>
                    <a:pt x="340245" y="2592349"/>
                  </a:lnTo>
                  <a:lnTo>
                    <a:pt x="6067704" y="2592349"/>
                  </a:lnTo>
                  <a:lnTo>
                    <a:pt x="6113608" y="2589219"/>
                  </a:lnTo>
                  <a:lnTo>
                    <a:pt x="6157717" y="2580107"/>
                  </a:lnTo>
                  <a:lnTo>
                    <a:pt x="6199611" y="2565433"/>
                  </a:lnTo>
                  <a:lnTo>
                    <a:pt x="6238872" y="2545615"/>
                  </a:lnTo>
                  <a:lnTo>
                    <a:pt x="6275082" y="2521071"/>
                  </a:lnTo>
                  <a:lnTo>
                    <a:pt x="6307821" y="2492221"/>
                  </a:lnTo>
                  <a:lnTo>
                    <a:pt x="6336672" y="2459481"/>
                  </a:lnTo>
                  <a:lnTo>
                    <a:pt x="6361216" y="2423271"/>
                  </a:lnTo>
                  <a:lnTo>
                    <a:pt x="6381034" y="2384010"/>
                  </a:lnTo>
                  <a:lnTo>
                    <a:pt x="6395708" y="2342116"/>
                  </a:lnTo>
                  <a:lnTo>
                    <a:pt x="6404819" y="2298008"/>
                  </a:lnTo>
                  <a:lnTo>
                    <a:pt x="6407950" y="2252103"/>
                  </a:lnTo>
                  <a:lnTo>
                    <a:pt x="6407950" y="340245"/>
                  </a:lnTo>
                  <a:lnTo>
                    <a:pt x="6404819" y="294341"/>
                  </a:lnTo>
                  <a:lnTo>
                    <a:pt x="6395708" y="250232"/>
                  </a:lnTo>
                  <a:lnTo>
                    <a:pt x="6381034" y="208338"/>
                  </a:lnTo>
                  <a:lnTo>
                    <a:pt x="6361216" y="169077"/>
                  </a:lnTo>
                  <a:lnTo>
                    <a:pt x="6336672" y="132867"/>
                  </a:lnTo>
                  <a:lnTo>
                    <a:pt x="6307821" y="100128"/>
                  </a:lnTo>
                  <a:lnTo>
                    <a:pt x="6275082" y="71277"/>
                  </a:lnTo>
                  <a:lnTo>
                    <a:pt x="6238872" y="46733"/>
                  </a:lnTo>
                  <a:lnTo>
                    <a:pt x="6199611" y="26915"/>
                  </a:lnTo>
                  <a:lnTo>
                    <a:pt x="6157717" y="12241"/>
                  </a:lnTo>
                  <a:lnTo>
                    <a:pt x="6113608" y="3130"/>
                  </a:lnTo>
                  <a:lnTo>
                    <a:pt x="6067704" y="0"/>
                  </a:lnTo>
                  <a:close/>
                </a:path>
              </a:pathLst>
            </a:custGeom>
            <a:solidFill>
              <a:srgbClr val="E6F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793789" y="4809413"/>
              <a:ext cx="6408420" cy="2592705"/>
            </a:xfrm>
            <a:custGeom>
              <a:avLst/>
              <a:gdLst/>
              <a:ahLst/>
              <a:cxnLst/>
              <a:rect l="l" t="t" r="r" b="b"/>
              <a:pathLst>
                <a:path w="6408420" h="2592704">
                  <a:moveTo>
                    <a:pt x="0" y="340245"/>
                  </a:moveTo>
                  <a:lnTo>
                    <a:pt x="3130" y="294341"/>
                  </a:lnTo>
                  <a:lnTo>
                    <a:pt x="12241" y="250232"/>
                  </a:lnTo>
                  <a:lnTo>
                    <a:pt x="26915" y="208338"/>
                  </a:lnTo>
                  <a:lnTo>
                    <a:pt x="46733" y="169077"/>
                  </a:lnTo>
                  <a:lnTo>
                    <a:pt x="71277" y="132867"/>
                  </a:lnTo>
                  <a:lnTo>
                    <a:pt x="100127" y="100128"/>
                  </a:lnTo>
                  <a:lnTo>
                    <a:pt x="132867" y="71277"/>
                  </a:lnTo>
                  <a:lnTo>
                    <a:pt x="169076" y="46733"/>
                  </a:lnTo>
                  <a:lnTo>
                    <a:pt x="208338" y="26915"/>
                  </a:lnTo>
                  <a:lnTo>
                    <a:pt x="250232" y="12241"/>
                  </a:lnTo>
                  <a:lnTo>
                    <a:pt x="294340" y="3130"/>
                  </a:lnTo>
                  <a:lnTo>
                    <a:pt x="340245" y="0"/>
                  </a:lnTo>
                  <a:lnTo>
                    <a:pt x="6067704" y="0"/>
                  </a:lnTo>
                  <a:lnTo>
                    <a:pt x="6113608" y="3130"/>
                  </a:lnTo>
                  <a:lnTo>
                    <a:pt x="6157717" y="12241"/>
                  </a:lnTo>
                  <a:lnTo>
                    <a:pt x="6199611" y="26915"/>
                  </a:lnTo>
                  <a:lnTo>
                    <a:pt x="6238872" y="46733"/>
                  </a:lnTo>
                  <a:lnTo>
                    <a:pt x="6275082" y="71277"/>
                  </a:lnTo>
                  <a:lnTo>
                    <a:pt x="6307821" y="100128"/>
                  </a:lnTo>
                  <a:lnTo>
                    <a:pt x="6336672" y="132867"/>
                  </a:lnTo>
                  <a:lnTo>
                    <a:pt x="6361216" y="169077"/>
                  </a:lnTo>
                  <a:lnTo>
                    <a:pt x="6381034" y="208338"/>
                  </a:lnTo>
                  <a:lnTo>
                    <a:pt x="6395708" y="250232"/>
                  </a:lnTo>
                  <a:lnTo>
                    <a:pt x="6404819" y="294341"/>
                  </a:lnTo>
                  <a:lnTo>
                    <a:pt x="6407950" y="340245"/>
                  </a:lnTo>
                  <a:lnTo>
                    <a:pt x="6407950" y="2252103"/>
                  </a:lnTo>
                  <a:lnTo>
                    <a:pt x="6404819" y="2298008"/>
                  </a:lnTo>
                  <a:lnTo>
                    <a:pt x="6395708" y="2342116"/>
                  </a:lnTo>
                  <a:lnTo>
                    <a:pt x="6381034" y="2384010"/>
                  </a:lnTo>
                  <a:lnTo>
                    <a:pt x="6361216" y="2423271"/>
                  </a:lnTo>
                  <a:lnTo>
                    <a:pt x="6336672" y="2459481"/>
                  </a:lnTo>
                  <a:lnTo>
                    <a:pt x="6307821" y="2492221"/>
                  </a:lnTo>
                  <a:lnTo>
                    <a:pt x="6275082" y="2521071"/>
                  </a:lnTo>
                  <a:lnTo>
                    <a:pt x="6238872" y="2545615"/>
                  </a:lnTo>
                  <a:lnTo>
                    <a:pt x="6199611" y="2565433"/>
                  </a:lnTo>
                  <a:lnTo>
                    <a:pt x="6157717" y="2580107"/>
                  </a:lnTo>
                  <a:lnTo>
                    <a:pt x="6113608" y="2589219"/>
                  </a:lnTo>
                  <a:lnTo>
                    <a:pt x="6067704" y="2592349"/>
                  </a:lnTo>
                  <a:lnTo>
                    <a:pt x="340245" y="2592349"/>
                  </a:lnTo>
                  <a:lnTo>
                    <a:pt x="294340" y="2589219"/>
                  </a:lnTo>
                  <a:lnTo>
                    <a:pt x="250232" y="2580107"/>
                  </a:lnTo>
                  <a:lnTo>
                    <a:pt x="208338" y="2565433"/>
                  </a:lnTo>
                  <a:lnTo>
                    <a:pt x="169076" y="2545615"/>
                  </a:lnTo>
                  <a:lnTo>
                    <a:pt x="132867" y="2521071"/>
                  </a:lnTo>
                  <a:lnTo>
                    <a:pt x="100127" y="2492221"/>
                  </a:lnTo>
                  <a:lnTo>
                    <a:pt x="71277" y="2459481"/>
                  </a:lnTo>
                  <a:lnTo>
                    <a:pt x="46733" y="2423271"/>
                  </a:lnTo>
                  <a:lnTo>
                    <a:pt x="26915" y="2384010"/>
                  </a:lnTo>
                  <a:lnTo>
                    <a:pt x="12241" y="2342116"/>
                  </a:lnTo>
                  <a:lnTo>
                    <a:pt x="3130" y="2298008"/>
                  </a:lnTo>
                  <a:lnTo>
                    <a:pt x="0" y="2252103"/>
                  </a:lnTo>
                  <a:lnTo>
                    <a:pt x="0" y="340245"/>
                  </a:lnTo>
                  <a:close/>
                </a:path>
              </a:pathLst>
            </a:custGeom>
            <a:ln w="7619">
              <a:solidFill>
                <a:srgbClr val="B3D4E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8223" y="5043843"/>
              <a:ext cx="680441" cy="680440"/>
            </a:xfrm>
            <a:prstGeom prst="rect">
              <a:avLst/>
            </a:prstGeom>
          </p:spPr>
        </p:pic>
      </p:grpSp>
      <p:sp>
        <p:nvSpPr>
          <p:cNvPr id="22" name="object 22" descr=""/>
          <p:cNvSpPr txBox="1"/>
          <p:nvPr/>
        </p:nvSpPr>
        <p:spPr>
          <a:xfrm>
            <a:off x="1015523" y="5946470"/>
            <a:ext cx="5641340" cy="1227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latin typeface="Arial"/>
                <a:cs typeface="Arial"/>
              </a:rPr>
              <a:t>Product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Positioning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35700"/>
              </a:lnSpc>
              <a:spcBef>
                <a:spcPts val="1120"/>
              </a:spcBef>
            </a:pPr>
            <a:r>
              <a:rPr dirty="0" sz="1750">
                <a:latin typeface="Arial"/>
                <a:cs typeface="Arial"/>
              </a:rPr>
              <a:t>Highlight</a:t>
            </a:r>
            <a:r>
              <a:rPr dirty="0" sz="1750" spc="-55">
                <a:latin typeface="Arial"/>
                <a:cs typeface="Arial"/>
              </a:rPr>
              <a:t> </a:t>
            </a:r>
            <a:r>
              <a:rPr dirty="0" sz="1750" spc="-20">
                <a:latin typeface="Arial"/>
                <a:cs typeface="Arial"/>
              </a:rPr>
              <a:t>top-</a:t>
            </a:r>
            <a:r>
              <a:rPr dirty="0" sz="1750">
                <a:latin typeface="Arial"/>
                <a:cs typeface="Arial"/>
              </a:rPr>
              <a:t>rated</a:t>
            </a:r>
            <a:r>
              <a:rPr dirty="0" sz="1750" spc="-50">
                <a:latin typeface="Arial"/>
                <a:cs typeface="Arial"/>
              </a:rPr>
              <a:t> </a:t>
            </a:r>
            <a:r>
              <a:rPr dirty="0" sz="1750">
                <a:latin typeface="Arial"/>
                <a:cs typeface="Arial"/>
              </a:rPr>
              <a:t>and</a:t>
            </a:r>
            <a:r>
              <a:rPr dirty="0" sz="1750" spc="-55">
                <a:latin typeface="Arial"/>
                <a:cs typeface="Arial"/>
              </a:rPr>
              <a:t> </a:t>
            </a:r>
            <a:r>
              <a:rPr dirty="0" sz="1750" spc="-20">
                <a:latin typeface="Arial"/>
                <a:cs typeface="Arial"/>
              </a:rPr>
              <a:t>best-</a:t>
            </a:r>
            <a:r>
              <a:rPr dirty="0" sz="1750">
                <a:latin typeface="Arial"/>
                <a:cs typeface="Arial"/>
              </a:rPr>
              <a:t>selling</a:t>
            </a:r>
            <a:r>
              <a:rPr dirty="0" sz="1750" spc="-50">
                <a:latin typeface="Arial"/>
                <a:cs typeface="Arial"/>
              </a:rPr>
              <a:t> </a:t>
            </a:r>
            <a:r>
              <a:rPr dirty="0" sz="1750">
                <a:latin typeface="Arial"/>
                <a:cs typeface="Arial"/>
              </a:rPr>
              <a:t>products</a:t>
            </a:r>
            <a:r>
              <a:rPr dirty="0" sz="1750" spc="-55">
                <a:latin typeface="Arial"/>
                <a:cs typeface="Arial"/>
              </a:rPr>
              <a:t> </a:t>
            </a:r>
            <a:r>
              <a:rPr dirty="0" sz="1750">
                <a:latin typeface="Arial"/>
                <a:cs typeface="Arial"/>
              </a:rPr>
              <a:t>in</a:t>
            </a:r>
            <a:r>
              <a:rPr dirty="0" sz="1750" spc="-50">
                <a:latin typeface="Arial"/>
                <a:cs typeface="Arial"/>
              </a:rPr>
              <a:t> </a:t>
            </a:r>
            <a:r>
              <a:rPr dirty="0" sz="1750" spc="-10">
                <a:latin typeface="Arial"/>
                <a:cs typeface="Arial"/>
              </a:rPr>
              <a:t>marketing campaigns</a:t>
            </a:r>
            <a:endParaRPr sz="1750">
              <a:latin typeface="Arial"/>
              <a:cs typeface="Arial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7424737" y="4805603"/>
            <a:ext cx="6416040" cy="2600325"/>
            <a:chOff x="7424737" y="4805603"/>
            <a:chExt cx="6416040" cy="2600325"/>
          </a:xfrm>
        </p:grpSpPr>
        <p:sp>
          <p:nvSpPr>
            <p:cNvPr id="24" name="object 24" descr=""/>
            <p:cNvSpPr/>
            <p:nvPr/>
          </p:nvSpPr>
          <p:spPr>
            <a:xfrm>
              <a:off x="7428547" y="4809413"/>
              <a:ext cx="6408420" cy="2592705"/>
            </a:xfrm>
            <a:custGeom>
              <a:avLst/>
              <a:gdLst/>
              <a:ahLst/>
              <a:cxnLst/>
              <a:rect l="l" t="t" r="r" b="b"/>
              <a:pathLst>
                <a:path w="6408419" h="2592704">
                  <a:moveTo>
                    <a:pt x="6067704" y="0"/>
                  </a:moveTo>
                  <a:lnTo>
                    <a:pt x="340245" y="0"/>
                  </a:lnTo>
                  <a:lnTo>
                    <a:pt x="294340" y="3130"/>
                  </a:lnTo>
                  <a:lnTo>
                    <a:pt x="250232" y="12241"/>
                  </a:lnTo>
                  <a:lnTo>
                    <a:pt x="208338" y="26915"/>
                  </a:lnTo>
                  <a:lnTo>
                    <a:pt x="169076" y="46733"/>
                  </a:lnTo>
                  <a:lnTo>
                    <a:pt x="132867" y="71277"/>
                  </a:lnTo>
                  <a:lnTo>
                    <a:pt x="100127" y="100128"/>
                  </a:lnTo>
                  <a:lnTo>
                    <a:pt x="71277" y="132867"/>
                  </a:lnTo>
                  <a:lnTo>
                    <a:pt x="46733" y="169077"/>
                  </a:lnTo>
                  <a:lnTo>
                    <a:pt x="26915" y="208338"/>
                  </a:lnTo>
                  <a:lnTo>
                    <a:pt x="12241" y="250232"/>
                  </a:lnTo>
                  <a:lnTo>
                    <a:pt x="3130" y="294341"/>
                  </a:lnTo>
                  <a:lnTo>
                    <a:pt x="0" y="340245"/>
                  </a:lnTo>
                  <a:lnTo>
                    <a:pt x="0" y="2252103"/>
                  </a:lnTo>
                  <a:lnTo>
                    <a:pt x="3130" y="2298008"/>
                  </a:lnTo>
                  <a:lnTo>
                    <a:pt x="12241" y="2342116"/>
                  </a:lnTo>
                  <a:lnTo>
                    <a:pt x="26915" y="2384010"/>
                  </a:lnTo>
                  <a:lnTo>
                    <a:pt x="46733" y="2423271"/>
                  </a:lnTo>
                  <a:lnTo>
                    <a:pt x="71277" y="2459481"/>
                  </a:lnTo>
                  <a:lnTo>
                    <a:pt x="100127" y="2492221"/>
                  </a:lnTo>
                  <a:lnTo>
                    <a:pt x="132867" y="2521071"/>
                  </a:lnTo>
                  <a:lnTo>
                    <a:pt x="169076" y="2545615"/>
                  </a:lnTo>
                  <a:lnTo>
                    <a:pt x="208338" y="2565433"/>
                  </a:lnTo>
                  <a:lnTo>
                    <a:pt x="250232" y="2580107"/>
                  </a:lnTo>
                  <a:lnTo>
                    <a:pt x="294340" y="2589219"/>
                  </a:lnTo>
                  <a:lnTo>
                    <a:pt x="340245" y="2592349"/>
                  </a:lnTo>
                  <a:lnTo>
                    <a:pt x="6067704" y="2592349"/>
                  </a:lnTo>
                  <a:lnTo>
                    <a:pt x="6113608" y="2589219"/>
                  </a:lnTo>
                  <a:lnTo>
                    <a:pt x="6157717" y="2580107"/>
                  </a:lnTo>
                  <a:lnTo>
                    <a:pt x="6199611" y="2565433"/>
                  </a:lnTo>
                  <a:lnTo>
                    <a:pt x="6238872" y="2545615"/>
                  </a:lnTo>
                  <a:lnTo>
                    <a:pt x="6275082" y="2521071"/>
                  </a:lnTo>
                  <a:lnTo>
                    <a:pt x="6307821" y="2492221"/>
                  </a:lnTo>
                  <a:lnTo>
                    <a:pt x="6336672" y="2459481"/>
                  </a:lnTo>
                  <a:lnTo>
                    <a:pt x="6361216" y="2423271"/>
                  </a:lnTo>
                  <a:lnTo>
                    <a:pt x="6381034" y="2384010"/>
                  </a:lnTo>
                  <a:lnTo>
                    <a:pt x="6395708" y="2342116"/>
                  </a:lnTo>
                  <a:lnTo>
                    <a:pt x="6404819" y="2298008"/>
                  </a:lnTo>
                  <a:lnTo>
                    <a:pt x="6407950" y="2252103"/>
                  </a:lnTo>
                  <a:lnTo>
                    <a:pt x="6407950" y="340245"/>
                  </a:lnTo>
                  <a:lnTo>
                    <a:pt x="6404819" y="294341"/>
                  </a:lnTo>
                  <a:lnTo>
                    <a:pt x="6395708" y="250232"/>
                  </a:lnTo>
                  <a:lnTo>
                    <a:pt x="6381034" y="208338"/>
                  </a:lnTo>
                  <a:lnTo>
                    <a:pt x="6361216" y="169077"/>
                  </a:lnTo>
                  <a:lnTo>
                    <a:pt x="6336672" y="132867"/>
                  </a:lnTo>
                  <a:lnTo>
                    <a:pt x="6307821" y="100128"/>
                  </a:lnTo>
                  <a:lnTo>
                    <a:pt x="6275082" y="71277"/>
                  </a:lnTo>
                  <a:lnTo>
                    <a:pt x="6238872" y="46733"/>
                  </a:lnTo>
                  <a:lnTo>
                    <a:pt x="6199611" y="26915"/>
                  </a:lnTo>
                  <a:lnTo>
                    <a:pt x="6157717" y="12241"/>
                  </a:lnTo>
                  <a:lnTo>
                    <a:pt x="6113608" y="3130"/>
                  </a:lnTo>
                  <a:lnTo>
                    <a:pt x="6067704" y="0"/>
                  </a:lnTo>
                  <a:close/>
                </a:path>
              </a:pathLst>
            </a:custGeom>
            <a:solidFill>
              <a:srgbClr val="E6F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428547" y="4809413"/>
              <a:ext cx="6408420" cy="2592705"/>
            </a:xfrm>
            <a:custGeom>
              <a:avLst/>
              <a:gdLst/>
              <a:ahLst/>
              <a:cxnLst/>
              <a:rect l="l" t="t" r="r" b="b"/>
              <a:pathLst>
                <a:path w="6408419" h="2592704">
                  <a:moveTo>
                    <a:pt x="0" y="340245"/>
                  </a:moveTo>
                  <a:lnTo>
                    <a:pt x="3130" y="294341"/>
                  </a:lnTo>
                  <a:lnTo>
                    <a:pt x="12241" y="250232"/>
                  </a:lnTo>
                  <a:lnTo>
                    <a:pt x="26915" y="208338"/>
                  </a:lnTo>
                  <a:lnTo>
                    <a:pt x="46733" y="169077"/>
                  </a:lnTo>
                  <a:lnTo>
                    <a:pt x="71277" y="132867"/>
                  </a:lnTo>
                  <a:lnTo>
                    <a:pt x="100127" y="100128"/>
                  </a:lnTo>
                  <a:lnTo>
                    <a:pt x="132867" y="71277"/>
                  </a:lnTo>
                  <a:lnTo>
                    <a:pt x="169076" y="46733"/>
                  </a:lnTo>
                  <a:lnTo>
                    <a:pt x="208338" y="26915"/>
                  </a:lnTo>
                  <a:lnTo>
                    <a:pt x="250232" y="12241"/>
                  </a:lnTo>
                  <a:lnTo>
                    <a:pt x="294340" y="3130"/>
                  </a:lnTo>
                  <a:lnTo>
                    <a:pt x="340245" y="0"/>
                  </a:lnTo>
                  <a:lnTo>
                    <a:pt x="6067704" y="0"/>
                  </a:lnTo>
                  <a:lnTo>
                    <a:pt x="6113608" y="3130"/>
                  </a:lnTo>
                  <a:lnTo>
                    <a:pt x="6157717" y="12241"/>
                  </a:lnTo>
                  <a:lnTo>
                    <a:pt x="6199611" y="26915"/>
                  </a:lnTo>
                  <a:lnTo>
                    <a:pt x="6238872" y="46733"/>
                  </a:lnTo>
                  <a:lnTo>
                    <a:pt x="6275082" y="71277"/>
                  </a:lnTo>
                  <a:lnTo>
                    <a:pt x="6307821" y="100128"/>
                  </a:lnTo>
                  <a:lnTo>
                    <a:pt x="6336672" y="132867"/>
                  </a:lnTo>
                  <a:lnTo>
                    <a:pt x="6361216" y="169077"/>
                  </a:lnTo>
                  <a:lnTo>
                    <a:pt x="6381034" y="208338"/>
                  </a:lnTo>
                  <a:lnTo>
                    <a:pt x="6395708" y="250232"/>
                  </a:lnTo>
                  <a:lnTo>
                    <a:pt x="6404819" y="294341"/>
                  </a:lnTo>
                  <a:lnTo>
                    <a:pt x="6407950" y="340245"/>
                  </a:lnTo>
                  <a:lnTo>
                    <a:pt x="6407950" y="2252103"/>
                  </a:lnTo>
                  <a:lnTo>
                    <a:pt x="6404819" y="2298008"/>
                  </a:lnTo>
                  <a:lnTo>
                    <a:pt x="6395708" y="2342116"/>
                  </a:lnTo>
                  <a:lnTo>
                    <a:pt x="6381034" y="2384010"/>
                  </a:lnTo>
                  <a:lnTo>
                    <a:pt x="6361216" y="2423271"/>
                  </a:lnTo>
                  <a:lnTo>
                    <a:pt x="6336672" y="2459481"/>
                  </a:lnTo>
                  <a:lnTo>
                    <a:pt x="6307821" y="2492221"/>
                  </a:lnTo>
                  <a:lnTo>
                    <a:pt x="6275082" y="2521071"/>
                  </a:lnTo>
                  <a:lnTo>
                    <a:pt x="6238872" y="2545615"/>
                  </a:lnTo>
                  <a:lnTo>
                    <a:pt x="6199611" y="2565433"/>
                  </a:lnTo>
                  <a:lnTo>
                    <a:pt x="6157717" y="2580107"/>
                  </a:lnTo>
                  <a:lnTo>
                    <a:pt x="6113608" y="2589219"/>
                  </a:lnTo>
                  <a:lnTo>
                    <a:pt x="6067704" y="2592349"/>
                  </a:lnTo>
                  <a:lnTo>
                    <a:pt x="340245" y="2592349"/>
                  </a:lnTo>
                  <a:lnTo>
                    <a:pt x="294340" y="2589219"/>
                  </a:lnTo>
                  <a:lnTo>
                    <a:pt x="250232" y="2580107"/>
                  </a:lnTo>
                  <a:lnTo>
                    <a:pt x="208338" y="2565433"/>
                  </a:lnTo>
                  <a:lnTo>
                    <a:pt x="169076" y="2545615"/>
                  </a:lnTo>
                  <a:lnTo>
                    <a:pt x="132867" y="2521071"/>
                  </a:lnTo>
                  <a:lnTo>
                    <a:pt x="100127" y="2492221"/>
                  </a:lnTo>
                  <a:lnTo>
                    <a:pt x="71277" y="2459481"/>
                  </a:lnTo>
                  <a:lnTo>
                    <a:pt x="46733" y="2423271"/>
                  </a:lnTo>
                  <a:lnTo>
                    <a:pt x="26915" y="2384010"/>
                  </a:lnTo>
                  <a:lnTo>
                    <a:pt x="12241" y="2342116"/>
                  </a:lnTo>
                  <a:lnTo>
                    <a:pt x="3130" y="2298008"/>
                  </a:lnTo>
                  <a:lnTo>
                    <a:pt x="0" y="2252103"/>
                  </a:lnTo>
                  <a:lnTo>
                    <a:pt x="0" y="340245"/>
                  </a:lnTo>
                  <a:close/>
                </a:path>
              </a:pathLst>
            </a:custGeom>
            <a:ln w="7619">
              <a:solidFill>
                <a:srgbClr val="B3D4E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62976" y="5043843"/>
              <a:ext cx="680441" cy="680440"/>
            </a:xfrm>
            <a:prstGeom prst="rect">
              <a:avLst/>
            </a:prstGeom>
          </p:spPr>
        </p:pic>
      </p:grpSp>
      <p:sp>
        <p:nvSpPr>
          <p:cNvPr id="27" name="object 27" descr=""/>
          <p:cNvSpPr txBox="1"/>
          <p:nvPr/>
        </p:nvSpPr>
        <p:spPr>
          <a:xfrm>
            <a:off x="7650276" y="5946470"/>
            <a:ext cx="5646420" cy="1227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latin typeface="Arial"/>
                <a:cs typeface="Arial"/>
              </a:rPr>
              <a:t>Targeted</a:t>
            </a:r>
            <a:r>
              <a:rPr dirty="0" sz="2200" spc="-114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Marketing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35700"/>
              </a:lnSpc>
              <a:spcBef>
                <a:spcPts val="1120"/>
              </a:spcBef>
            </a:pPr>
            <a:r>
              <a:rPr dirty="0" sz="1750">
                <a:latin typeface="Arial"/>
                <a:cs typeface="Arial"/>
              </a:rPr>
              <a:t>Focus</a:t>
            </a:r>
            <a:r>
              <a:rPr dirty="0" sz="1750" spc="-35">
                <a:latin typeface="Arial"/>
                <a:cs typeface="Arial"/>
              </a:rPr>
              <a:t> </a:t>
            </a:r>
            <a:r>
              <a:rPr dirty="0" sz="1750">
                <a:latin typeface="Arial"/>
                <a:cs typeface="Arial"/>
              </a:rPr>
              <a:t>on</a:t>
            </a:r>
            <a:r>
              <a:rPr dirty="0" sz="1750" spc="-35">
                <a:latin typeface="Arial"/>
                <a:cs typeface="Arial"/>
              </a:rPr>
              <a:t> </a:t>
            </a:r>
            <a:r>
              <a:rPr dirty="0" sz="1750" spc="-20">
                <a:latin typeface="Arial"/>
                <a:cs typeface="Arial"/>
              </a:rPr>
              <a:t>high-</a:t>
            </a:r>
            <a:r>
              <a:rPr dirty="0" sz="1750">
                <a:latin typeface="Arial"/>
                <a:cs typeface="Arial"/>
              </a:rPr>
              <a:t>revenue</a:t>
            </a:r>
            <a:r>
              <a:rPr dirty="0" sz="1750" spc="-35">
                <a:latin typeface="Arial"/>
                <a:cs typeface="Arial"/>
              </a:rPr>
              <a:t> </a:t>
            </a:r>
            <a:r>
              <a:rPr dirty="0" sz="1750">
                <a:latin typeface="Arial"/>
                <a:cs typeface="Arial"/>
              </a:rPr>
              <a:t>age</a:t>
            </a:r>
            <a:r>
              <a:rPr dirty="0" sz="1750" spc="-35">
                <a:latin typeface="Arial"/>
                <a:cs typeface="Arial"/>
              </a:rPr>
              <a:t> </a:t>
            </a:r>
            <a:r>
              <a:rPr dirty="0" sz="1750">
                <a:latin typeface="Arial"/>
                <a:cs typeface="Arial"/>
              </a:rPr>
              <a:t>groups</a:t>
            </a:r>
            <a:r>
              <a:rPr dirty="0" sz="1750" spc="-35">
                <a:latin typeface="Arial"/>
                <a:cs typeface="Arial"/>
              </a:rPr>
              <a:t> </a:t>
            </a:r>
            <a:r>
              <a:rPr dirty="0" sz="1750">
                <a:latin typeface="Arial"/>
                <a:cs typeface="Arial"/>
              </a:rPr>
              <a:t>and</a:t>
            </a:r>
            <a:r>
              <a:rPr dirty="0" sz="1750" spc="-35">
                <a:latin typeface="Arial"/>
                <a:cs typeface="Arial"/>
              </a:rPr>
              <a:t> </a:t>
            </a:r>
            <a:r>
              <a:rPr dirty="0" sz="1750" spc="-20">
                <a:latin typeface="Arial"/>
                <a:cs typeface="Arial"/>
              </a:rPr>
              <a:t>express-</a:t>
            </a:r>
            <a:r>
              <a:rPr dirty="0" sz="1750" spc="-10">
                <a:latin typeface="Arial"/>
                <a:cs typeface="Arial"/>
              </a:rPr>
              <a:t>shipping users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11150"/>
              </a:lnSpc>
            </a:pPr>
            <a:r>
              <a:rPr dirty="0" sz="8900" spc="-35"/>
              <a:t>Data-</a:t>
            </a:r>
            <a:r>
              <a:rPr dirty="0" sz="8900" spc="-10"/>
              <a:t>Driven Growth</a:t>
            </a:r>
            <a:endParaRPr sz="8900"/>
          </a:p>
        </p:txBody>
      </p:sp>
      <p:sp>
        <p:nvSpPr>
          <p:cNvPr id="3" name="object 3" descr=""/>
          <p:cNvSpPr txBox="1"/>
          <p:nvPr/>
        </p:nvSpPr>
        <p:spPr>
          <a:xfrm>
            <a:off x="6267487" y="5322201"/>
            <a:ext cx="7219950" cy="749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5700"/>
              </a:lnSpc>
              <a:spcBef>
                <a:spcPts val="100"/>
              </a:spcBef>
            </a:pP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Transform</a:t>
            </a:r>
            <a:r>
              <a:rPr dirty="0" sz="1750" spc="-7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insights</a:t>
            </a:r>
            <a:r>
              <a:rPr dirty="0" sz="1750" spc="-7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into</a:t>
            </a:r>
            <a:r>
              <a:rPr dirty="0" sz="1750" spc="-7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action:</a:t>
            </a:r>
            <a:r>
              <a:rPr dirty="0" sz="1750" spc="-7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optimize</a:t>
            </a:r>
            <a:r>
              <a:rPr dirty="0" sz="1750" spc="-7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B6D8B"/>
                </a:solidFill>
                <a:latin typeface="Arial"/>
                <a:cs typeface="Arial"/>
              </a:rPr>
              <a:t>subscriptions,</a:t>
            </a:r>
            <a:r>
              <a:rPr dirty="0" sz="1750" spc="-7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reward</a:t>
            </a:r>
            <a:r>
              <a:rPr dirty="0" sz="1750" spc="-7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loyalty,</a:t>
            </a:r>
            <a:r>
              <a:rPr dirty="0" sz="1750" spc="-75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 spc="-25">
                <a:solidFill>
                  <a:srgbClr val="5B6D8B"/>
                </a:solidFill>
                <a:latin typeface="Arial"/>
                <a:cs typeface="Arial"/>
              </a:rPr>
              <a:t>and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target</a:t>
            </a:r>
            <a:r>
              <a:rPr dirty="0" sz="1750" spc="-6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 spc="-20">
                <a:solidFill>
                  <a:srgbClr val="5B6D8B"/>
                </a:solidFill>
                <a:latin typeface="Arial"/>
                <a:cs typeface="Arial"/>
              </a:rPr>
              <a:t>high-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value</a:t>
            </a:r>
            <a:r>
              <a:rPr dirty="0" sz="1750" spc="-6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B6D8B"/>
                </a:solidFill>
                <a:latin typeface="Arial"/>
                <a:cs typeface="Arial"/>
              </a:rPr>
              <a:t>customer</a:t>
            </a:r>
            <a:r>
              <a:rPr dirty="0" sz="1750" spc="-60">
                <a:solidFill>
                  <a:srgbClr val="5B6D8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B6D8B"/>
                </a:solidFill>
                <a:latin typeface="Arial"/>
                <a:cs typeface="Arial"/>
              </a:rPr>
              <a:t>segments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2026-03-22T04:24:22Z</dcterms:created>
  <dcterms:modified xsi:type="dcterms:W3CDTF">2026-03-22T04:24:22Z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2026-03-22T00:00:00Z</vt:filetime>
  </property>
  <property fmtid="{D5CDD505-2E9C-101B-9397-08002B2CF9AE}" pid="3" name="LastSaved">
    <vt:filetime>2026-03-22T00:00:00Z</vt:filetime>
  </property>
  <property fmtid="{D5CDD505-2E9C-101B-9397-08002B2CF9AE}" pid="4" name="Producer">
    <vt:lpwstr>3-Heights(TM) PDF Security Shell 4.8.25.2 (http://www.pdf-tools.com)</vt:lpwstr>
  </property>
</Properties>
</file>